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5ae7bd292d49d1" /><Relationship Type="http://schemas.openxmlformats.org/officeDocument/2006/relationships/extended-properties" Target="/docProps/app.xml" Id="R764af677df454081" /><Relationship Type="http://schemas.openxmlformats.org/officeDocument/2006/relationships/officeDocument" Target="/ppt/presentation.xml" Id="R650f24833d8445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4ede348edd4be1"/>
  </p:sldMasterIdLst>
  <p:notesMasterIdLst>
    <p:notesMasterId xmlns:r="http://schemas.openxmlformats.org/officeDocument/2006/relationships" r:id="R02dce11b75724732"/>
  </p:notesMasterIdLst>
  <p:sldIdLst>
    <p:sldId xmlns:r="http://schemas.openxmlformats.org/officeDocument/2006/relationships" id="256" r:id="Re17d3d1b3586427f"/>
    <p:sldId xmlns:r="http://schemas.openxmlformats.org/officeDocument/2006/relationships" id="257" r:id="Rf7d0d92ad8bf4eaa"/>
    <p:sldId xmlns:r="http://schemas.openxmlformats.org/officeDocument/2006/relationships" id="258" r:id="R2604f26d6a9c4cff"/>
    <p:sldId xmlns:r="http://schemas.openxmlformats.org/officeDocument/2006/relationships" id="259" r:id="Re2c299178ac04107"/>
    <p:sldId xmlns:r="http://schemas.openxmlformats.org/officeDocument/2006/relationships" id="260" r:id="R16f70f7e7717434f"/>
    <p:sldId xmlns:r="http://schemas.openxmlformats.org/officeDocument/2006/relationships" id="261" r:id="R7409f9a7597a4cbb"/>
    <p:sldId xmlns:r="http://schemas.openxmlformats.org/officeDocument/2006/relationships" id="262" r:id="R8bbc85beae304509"/>
    <p:sldId xmlns:r="http://schemas.openxmlformats.org/officeDocument/2006/relationships" id="263" r:id="R154100f338414d2e"/>
    <p:sldId xmlns:r="http://schemas.openxmlformats.org/officeDocument/2006/relationships" id="264" r:id="Rf02b8b2268184253"/>
    <p:sldId xmlns:r="http://schemas.openxmlformats.org/officeDocument/2006/relationships" id="265" r:id="Rdf23064fd41c49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38080e21a94040" /><Relationship Type="http://schemas.openxmlformats.org/officeDocument/2006/relationships/slideMaster" Target="/ppt/slideMasters/slideMaster1.xml" Id="Rc04ede348edd4be1" /><Relationship Type="http://schemas.openxmlformats.org/officeDocument/2006/relationships/notesMaster" Target="/ppt/notesMasters/notesMaster1.xml" Id="R02dce11b75724732" /><Relationship Type="http://schemas.openxmlformats.org/officeDocument/2006/relationships/presProps" Target="/ppt/presProps.xml" Id="R56f9eefed5434ae1" /><Relationship Type="http://schemas.openxmlformats.org/officeDocument/2006/relationships/viewProps" Target="/ppt/viewProps.xml" Id="R55f9c7a533c74b47" /><Relationship Type="http://schemas.openxmlformats.org/officeDocument/2006/relationships/tableStyles" Target="/ppt/tableStyles.xml" Id="R28f2db0c68f8499a" /><Relationship Type="http://schemas.openxmlformats.org/officeDocument/2006/relationships/slide" Target="/ppt/slides/slide1.xml" Id="Re17d3d1b3586427f" /><Relationship Type="http://schemas.openxmlformats.org/officeDocument/2006/relationships/slide" Target="/ppt/slides/slide2.xml" Id="Rf7d0d92ad8bf4eaa" /><Relationship Type="http://schemas.openxmlformats.org/officeDocument/2006/relationships/slide" Target="/ppt/slides/slide3.xml" Id="R2604f26d6a9c4cff" /><Relationship Type="http://schemas.openxmlformats.org/officeDocument/2006/relationships/slide" Target="/ppt/slides/slide4.xml" Id="Re2c299178ac04107" /><Relationship Type="http://schemas.openxmlformats.org/officeDocument/2006/relationships/slide" Target="/ppt/slides/slide5.xml" Id="R16f70f7e7717434f" /><Relationship Type="http://schemas.openxmlformats.org/officeDocument/2006/relationships/slide" Target="/ppt/slides/slide6.xml" Id="R7409f9a7597a4cbb" /><Relationship Type="http://schemas.openxmlformats.org/officeDocument/2006/relationships/slide" Target="/ppt/slides/slide7.xml" Id="R8bbc85beae304509" /><Relationship Type="http://schemas.openxmlformats.org/officeDocument/2006/relationships/slide" Target="/ppt/slides/slide8.xml" Id="R154100f338414d2e" /><Relationship Type="http://schemas.openxmlformats.org/officeDocument/2006/relationships/slide" Target="/ppt/slides/slide9.xml" Id="Rf02b8b2268184253" /><Relationship Type="http://schemas.openxmlformats.org/officeDocument/2006/relationships/slide" Target="/ppt/slides/slide10.xml" Id="Rdf23064fd41c49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2e395a966443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c5208d1f3943c4" /><Relationship Type="http://schemas.openxmlformats.org/officeDocument/2006/relationships/notesMaster" Target="/ppt/notesMasters/notesMaster1.xml" Id="R5083874fa23749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2847224e694534" /><Relationship Type="http://schemas.openxmlformats.org/officeDocument/2006/relationships/notesMaster" Target="/ppt/notesMasters/notesMaster1.xml" Id="Rea1d46bdcf5c4a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9a929f7a064b1c" /><Relationship Type="http://schemas.openxmlformats.org/officeDocument/2006/relationships/notesMaster" Target="/ppt/notesMasters/notesMaster1.xml" Id="Rcf37392c66de49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8c8932687f4dbf" /><Relationship Type="http://schemas.openxmlformats.org/officeDocument/2006/relationships/notesMaster" Target="/ppt/notesMasters/notesMaster1.xml" Id="R80c122f657bf4f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b24aaba2c7475f" /><Relationship Type="http://schemas.openxmlformats.org/officeDocument/2006/relationships/notesMaster" Target="/ppt/notesMasters/notesMaster1.xml" Id="Re247d472befb4d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8ffd47ccc1424f" /><Relationship Type="http://schemas.openxmlformats.org/officeDocument/2006/relationships/notesMaster" Target="/ppt/notesMasters/notesMaster1.xml" Id="R98a52165ebe545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d3ff5ff3794801" /><Relationship Type="http://schemas.openxmlformats.org/officeDocument/2006/relationships/notesMaster" Target="/ppt/notesMasters/notesMaster1.xml" Id="Rc9d701e1579f44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43a93a116c4448" /><Relationship Type="http://schemas.openxmlformats.org/officeDocument/2006/relationships/notesMaster" Target="/ppt/notesMasters/notesMaster1.xml" Id="Rc96231064b0c44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16f9dcaf244c58" /><Relationship Type="http://schemas.openxmlformats.org/officeDocument/2006/relationships/notesMaster" Target="/ppt/notesMasters/notesMaster1.xml" Id="R07d6992ae8f546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1bed5f22714884" /><Relationship Type="http://schemas.openxmlformats.org/officeDocument/2006/relationships/notesMaster" Target="/ppt/notesMasters/notesMaster1.xml" Id="Rd41f15131d7248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Cover background generated with OpenAI image generation for this deck on 2026-07-30.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Body-slide master background generated with OpenAI image generation for this deck on 2026-07-30.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Body-slide master background generated with OpenAI image generation for this deck on 2026-07-30.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Production screenshot captured from https://1.15.173.22/ on 2026-07-28; shows the conversation input and hotel-application quick action.</a:t>
            </a:r>
          </a:p>
          <a:p xmlns:a="http://schemas.openxmlformats.org/drawingml/2006/main">
            <a:r>
              <a:t>- Production demonstration prompt validated on 2026-07-29; the visible copy summarizes its business goal, key conditions, and submit-before-confirmation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Production screenshots captured from https://1.15.173.22/ on 2026-07-30 using test data.</a:t>
            </a:r>
          </a:p>
          <a:p xmlns:a="http://schemas.openxmlformats.org/drawingml/2006/main">
            <a:r>
              <a:t>- This slide shows generated application information and employee confirmation.</a:t>
            </a:r>
          </a:p>
          <a:p xmlns:a="http://schemas.openxmlformats.org/drawingml/2006/main">
            <a:r>
              <a:t>- Body-slide master background generated with OpenAI image generation for this deck on 2026-07-30.</a:t>
            </a:r>
          </a:p>
          <a:p xmlns:a="http://schemas.openxmlformats.org/drawingml/2006/main">
            <a:r>
              <a:t>- No quantitative efficiency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Production screenshots captured from https://1.15.173.22/ on 2026-07-30 using test data.</a:t>
            </a:r>
          </a:p>
          <a:p xmlns:a="http://schemas.openxmlformats.org/drawingml/2006/main">
            <a:r>
              <a:t>- This slide shows OA submission result, status query, application number, and original-system entry.</a:t>
            </a:r>
          </a:p>
          <a:p xmlns:a="http://schemas.openxmlformats.org/drawingml/2006/main">
            <a:r>
              <a:t>- Body-slide master background generated with OpenAI image generation for this deck on 2026-07-30.</a:t>
            </a:r>
          </a:p>
          <a:p xmlns:a="http://schemas.openxmlformats.org/drawingml/2006/main">
            <a:r>
              <a:t>- No quantitative efficiency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Body-slide master background generated with OpenAI image generation for this deck on 2026-07-30.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Body-slide master background generated with OpenAI image generation for this deck on 2026-07-30.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docs/enterprise-business-operation-agent-prd.md sections 3, 7, and 8: existing systems remain authoritative; API/MCP/connectors are preferred; Browser Skill is the fallback for systems without standard interfaces.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https://github.com/zhengchengqiaobusiness-arch/Dano/issues/192 (accessed 2026-07-30): scoped long-term memory, preferences, project context, historical task reuse, dynamic-parameter reconfirmation, explainability, correction, and forgetting. This slide summarizes the target design, not production-completion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5ef262624f46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5c6e073315ad4ff8" /><Relationship Type="http://schemas.openxmlformats.org/officeDocument/2006/relationships/theme" Target="/ppt/slideMasters/theme/theme2.xml" Id="Raf1802ce56f84bdc" /><Relationship Type="http://schemas.openxmlformats.org/officeDocument/2006/relationships/slideLayout" Target="/ppt/slideLayouts/slideLayout1.xml" Id="R6e1e8e6ee2684af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xiaoluo-body-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e073315ad4ff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1e8e6ee2684a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ae0bae5db4aa9" /><Relationship Type="http://schemas.openxmlformats.org/officeDocument/2006/relationships/image" Target="/ppt/media/image2.png" Id="R4c54bf7e21f6430d" /><Relationship Type="http://schemas.openxmlformats.org/officeDocument/2006/relationships/image" Target="/ppt/media/image3.png" Id="Rfdb07efd6b3f4899" /><Relationship Type="http://schemas.openxmlformats.org/officeDocument/2006/relationships/notesSlide" Target="/ppt/notesSlides/notesSlide1.xml" Id="R530b3bec39e541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6abf3b86448f6" /><Relationship Type="http://schemas.openxmlformats.org/officeDocument/2006/relationships/notesSlide" Target="/ppt/notesSlides/notesSlide2.xml" Id="R93dc618395294b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ef17cc662403f" /><Relationship Type="http://schemas.openxmlformats.org/officeDocument/2006/relationships/notesSlide" Target="/ppt/notesSlides/notesSlide3.xml" Id="R54e001363ca142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4a77ecc574a01" /><Relationship Type="http://schemas.openxmlformats.org/officeDocument/2006/relationships/image" Target="/ppt/media/image.jpeg" Id="R820f48317fc445ff" /><Relationship Type="http://schemas.openxmlformats.org/officeDocument/2006/relationships/notesSlide" Target="/ppt/notesSlides/notesSlide4.xml" Id="R5988a6149fe24f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df877bdfa4668" /><Relationship Type="http://schemas.openxmlformats.org/officeDocument/2006/relationships/image" Target="/ppt/media/image2.jpeg" Id="R63b4d16e8b964e26" /><Relationship Type="http://schemas.openxmlformats.org/officeDocument/2006/relationships/image" Target="/ppt/media/image3.jpeg" Id="R10e66caeabf343e4" /><Relationship Type="http://schemas.openxmlformats.org/officeDocument/2006/relationships/notesSlide" Target="/ppt/notesSlides/notesSlide5.xml" Id="R007cdd3a08b84d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833c52bbd4e84" /><Relationship Type="http://schemas.openxmlformats.org/officeDocument/2006/relationships/image" Target="/ppt/media/image4.jpeg" Id="R31808ca881be4ca3" /><Relationship Type="http://schemas.openxmlformats.org/officeDocument/2006/relationships/notesSlide" Target="/ppt/notesSlides/notesSlide6.xml" Id="R8cdca8f93a334e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9d4ee7dc440e9" /><Relationship Type="http://schemas.openxmlformats.org/officeDocument/2006/relationships/notesSlide" Target="/ppt/notesSlides/notesSlide7.xml" Id="R6ab4eb2d41be4d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8774e18704bf6" /><Relationship Type="http://schemas.openxmlformats.org/officeDocument/2006/relationships/notesSlide" Target="/ppt/notesSlides/notesSlide8.xml" Id="R09bba7c278234d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527fc41a34aee" /><Relationship Type="http://schemas.openxmlformats.org/officeDocument/2006/relationships/notesSlide" Target="/ppt/notesSlides/notesSlide9.xml" Id="R9b0fadb8b54f4e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42488c06d42ed" /><Relationship Type="http://schemas.openxmlformats.org/officeDocument/2006/relationships/notesSlide" Target="/ppt/notesSlides/notesSlide10.xml" Id="R8e3a11291a554b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xiaoluo-cover-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4bf7e21f6430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1" name="cover-accent-blue">
            <a:extLst xmlns:a="http://schemas.openxmlformats.org/drawingml/2006/main">
              <a:ext uri="{FF2B5EF4-FFF2-40B4-BE49-F238E27FC236}">
                <a16:creationId xmlns:a16="http://schemas.microsoft.com/office/drawing/2014/main" id="{BCCF025E-D034-44B2-AEBC-69564470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cover-accent-purple">
            <a:extLst xmlns:a="http://schemas.openxmlformats.org/drawingml/2006/main">
              <a:ext uri="{FF2B5EF4-FFF2-40B4-BE49-F238E27FC236}">
                <a16:creationId xmlns:a16="http://schemas.microsoft.com/office/drawing/2014/main" id="{2005F680-2A03-4184-BF85-4DD62396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7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07efd6b3f48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6286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brand">
            <a:extLst xmlns:a="http://schemas.openxmlformats.org/drawingml/2006/main">
              <a:ext uri="{FF2B5EF4-FFF2-40B4-BE49-F238E27FC236}">
                <a16:creationId xmlns:a16="http://schemas.microsoft.com/office/drawing/2014/main" id="{0CB3C651-030A-4ACD-A224-7E2ABD5A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23900"/>
            <a:ext cx="360807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小络助手</a:t>
            </a:r>
          </a:p>
        </p:txBody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3A7A020-B36E-4371-B033-537FF2DD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企业智能助理 · 产品介绍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93AC623-DA9A-4338-9C0B-15E9F877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500" b="1">
                <a:solidFill>
                  <a:srgbClr val="101828"/>
                </a:solidFill>
              </a:defRPr>
            </a:pPr>
            <a:r>
              <a:rPr sz="4500" b="1">
                <a:solidFill>
                  <a:srgbClr val="101828"/>
                </a:solidFill>
              </a:rPr>
              <a:t>小络助手</a:t>
            </a:r>
          </a:p>
          <a:p xmlns:a="http://schemas.openxmlformats.org/drawingml/2006/main">
            <a:pPr algn="ctr">
              <a:buNone/>
              <a:defRPr sz="4500" b="1">
                <a:solidFill>
                  <a:srgbClr val="101828"/>
                </a:solidFill>
              </a:defRPr>
            </a:pPr>
            <a:r>
              <a:rPr sz="4500" b="1">
                <a:solidFill>
                  <a:srgbClr val="101828"/>
                </a:solidFill>
              </a:rPr>
              <a:t>一句话完成跨系统业务办理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5788516-A59F-4B22-962C-7303B08F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75467"/>
                </a:solidFill>
              </a:defRPr>
            </a:pPr>
            <a:r>
              <a:rPr sz="1800" b="0">
                <a:solidFill>
                  <a:srgbClr val="475467"/>
                </a:solidFill>
              </a:rPr>
              <a:t>让员工直接说出要办的事，由小络助手理解、补齐、确认并返回结果</a:t>
            </a:r>
          </a:p>
        </p:txBody>
      </p:sp>
      <p:sp>
        <p:nvSpPr>
          <p:cNvPr id="8" name="cover-rule">
            <a:extLst xmlns:a="http://schemas.openxmlformats.org/drawingml/2006/main">
              <a:ext uri="{FF2B5EF4-FFF2-40B4-BE49-F238E27FC236}">
                <a16:creationId xmlns:a16="http://schemas.microsoft.com/office/drawing/2014/main" id="{EA2DA05D-EC2B-4A25-AE6D-5AB70D55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cover-meta">
            <a:extLst xmlns:a="http://schemas.openxmlformats.org/drawingml/2006/main">
              <a:ext uri="{FF2B5EF4-FFF2-40B4-BE49-F238E27FC236}">
                <a16:creationId xmlns:a16="http://schemas.microsoft.com/office/drawing/2014/main" id="{AB93D337-BC8D-4FB1-911E-DD5DC86E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面向企业员工的智能业务办理入口</a:t>
            </a:r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BC2A4B91-EADD-45E2-B11A-2B9833D5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2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2026.07</a:t>
            </a:r>
          </a:p>
        </p:txBody>
      </p:sp>
    </p:spTree>
    <p:extLst>
      <p:ext uri="{BB962C8B-B14F-4D97-AF65-F5344CB8AC3E}">
        <p14:creationId xmlns:p14="http://schemas.microsoft.com/office/powerpoint/2010/main" val="7541313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eyebrow-2">
            <a:extLst xmlns:a="http://schemas.openxmlformats.org/drawingml/2006/main">
              <a:ext uri="{FF2B5EF4-FFF2-40B4-BE49-F238E27FC236}">
                <a16:creationId xmlns:a16="http://schemas.microsoft.com/office/drawing/2014/main" id="{54EC326B-FAB8-403F-A540-5BA0E477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小络助手 · 产品价值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FEE51770-DABA-4703-B8E0-08BC4D86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员工只需说明需求，就能高效完成业务办理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02E1E2FE-9CF7-4D11-BE38-B6BC3004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02</a:t>
            </a:r>
          </a:p>
        </p:txBody>
      </p:sp>
      <p:sp>
        <p:nvSpPr>
          <p:cNvPr id="4" name="s2-lead">
            <a:extLst xmlns:a="http://schemas.openxmlformats.org/drawingml/2006/main">
              <a:ext uri="{FF2B5EF4-FFF2-40B4-BE49-F238E27FC236}">
                <a16:creationId xmlns:a16="http://schemas.microsoft.com/office/drawing/2014/main" id="{E61E3472-6B22-4AAA-883A-4ECFE7CE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小络助手理解员工意图，匹配流程与规则，在对话中补齐信息、确认内容并返回结果。</a:t>
            </a:r>
          </a:p>
        </p:txBody>
      </p:sp>
      <p:sp>
        <p:nvSpPr>
          <p:cNvPr id="5" name="s2-old-label">
            <a:extLst xmlns:a="http://schemas.openxmlformats.org/drawingml/2006/main">
              <a:ext uri="{FF2B5EF4-FFF2-40B4-BE49-F238E27FC236}">
                <a16:creationId xmlns:a16="http://schemas.microsoft.com/office/drawing/2014/main" id="{C84554D8-A558-4E2D-B17D-9131164B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传统方式：员工适应系统</a:t>
            </a:r>
          </a:p>
        </p:txBody>
      </p:sp>
      <p:sp>
        <p:nvSpPr>
          <p:cNvPr id="6" name="s2-old-line">
            <a:extLst xmlns:a="http://schemas.openxmlformats.org/drawingml/2006/main">
              <a:ext uri="{FF2B5EF4-FFF2-40B4-BE49-F238E27FC236}">
                <a16:creationId xmlns:a16="http://schemas.microsoft.com/office/drawing/2014/main" id="{488DD6B6-28F5-4B65-BE62-14DB02AE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D6B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old-dot-0">
            <a:extLst xmlns:a="http://schemas.openxmlformats.org/drawingml/2006/main">
              <a:ext uri="{FF2B5EF4-FFF2-40B4-BE49-F238E27FC236}">
                <a16:creationId xmlns:a16="http://schemas.microsoft.com/office/drawing/2014/main" id="{72F5013E-ADB1-44D2-A011-A4CC87A0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old-step-0">
            <a:extLst xmlns:a="http://schemas.openxmlformats.org/drawingml/2006/main">
              <a:ext uri="{FF2B5EF4-FFF2-40B4-BE49-F238E27FC236}">
                <a16:creationId xmlns:a16="http://schemas.microsoft.com/office/drawing/2014/main" id="{A20373D8-67BF-4976-BA22-2678FBDD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切换不同系统</a:t>
            </a:r>
          </a:p>
        </p:txBody>
      </p:sp>
      <p:sp>
        <p:nvSpPr>
          <p:cNvPr id="9" name="old-vline-0">
            <a:extLst xmlns:a="http://schemas.openxmlformats.org/drawingml/2006/main">
              <a:ext uri="{FF2B5EF4-FFF2-40B4-BE49-F238E27FC236}">
                <a16:creationId xmlns:a16="http://schemas.microsoft.com/office/drawing/2014/main" id="{16E2351A-26B7-441C-AD34-537C35CA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D6B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old-dot-1">
            <a:extLst xmlns:a="http://schemas.openxmlformats.org/drawingml/2006/main">
              <a:ext uri="{FF2B5EF4-FFF2-40B4-BE49-F238E27FC236}">
                <a16:creationId xmlns:a16="http://schemas.microsoft.com/office/drawing/2014/main" id="{FB6BDE2B-D988-4260-829C-C4FB0B92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old-step-1">
            <a:extLst xmlns:a="http://schemas.openxmlformats.org/drawingml/2006/main">
              <a:ext uri="{FF2B5EF4-FFF2-40B4-BE49-F238E27FC236}">
                <a16:creationId xmlns:a16="http://schemas.microsoft.com/office/drawing/2014/main" id="{71E821A3-7BAB-4157-8C96-DAED6D62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熟悉各自规则</a:t>
            </a:r>
          </a:p>
        </p:txBody>
      </p:sp>
      <p:sp>
        <p:nvSpPr>
          <p:cNvPr id="12" name="old-vline-1">
            <a:extLst xmlns:a="http://schemas.openxmlformats.org/drawingml/2006/main">
              <a:ext uri="{FF2B5EF4-FFF2-40B4-BE49-F238E27FC236}">
                <a16:creationId xmlns:a16="http://schemas.microsoft.com/office/drawing/2014/main" id="{C2C700D6-DBE4-40B2-A37D-9698AC9D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D6B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old-dot-2">
            <a:extLst xmlns:a="http://schemas.openxmlformats.org/drawingml/2006/main">
              <a:ext uri="{FF2B5EF4-FFF2-40B4-BE49-F238E27FC236}">
                <a16:creationId xmlns:a16="http://schemas.microsoft.com/office/drawing/2014/main" id="{1E0161DD-CBB2-4E1D-A17D-26513DDD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old-step-2">
            <a:extLst xmlns:a="http://schemas.openxmlformats.org/drawingml/2006/main">
              <a:ext uri="{FF2B5EF4-FFF2-40B4-BE49-F238E27FC236}">
                <a16:creationId xmlns:a16="http://schemas.microsoft.com/office/drawing/2014/main" id="{B392D5EE-3B50-409D-87DB-54134016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2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逐项录入信息</a:t>
            </a:r>
          </a:p>
        </p:txBody>
      </p:sp>
      <p:sp>
        <p:nvSpPr>
          <p:cNvPr id="15" name="old-vline-2">
            <a:extLst xmlns:a="http://schemas.openxmlformats.org/drawingml/2006/main">
              <a:ext uri="{FF2B5EF4-FFF2-40B4-BE49-F238E27FC236}">
                <a16:creationId xmlns:a16="http://schemas.microsoft.com/office/drawing/2014/main" id="{6E3ECF2E-93C5-4872-B631-9E3AB6A8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D6B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old-dot-3">
            <a:extLst xmlns:a="http://schemas.openxmlformats.org/drawingml/2006/main">
              <a:ext uri="{FF2B5EF4-FFF2-40B4-BE49-F238E27FC236}">
                <a16:creationId xmlns:a16="http://schemas.microsoft.com/office/drawing/2014/main" id="{0D6E6B23-68D1-40EF-9BAF-191744E9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old-step-3">
            <a:extLst xmlns:a="http://schemas.openxmlformats.org/drawingml/2006/main">
              <a:ext uri="{FF2B5EF4-FFF2-40B4-BE49-F238E27FC236}">
                <a16:creationId xmlns:a16="http://schemas.microsoft.com/office/drawing/2014/main" id="{99274F7F-C322-4BC4-86F2-D8EB34FB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退回重复修改</a:t>
            </a:r>
          </a:p>
        </p:txBody>
      </p:sp>
      <p:sp>
        <p:nvSpPr>
          <p:cNvPr id="18" name="s2-old-impact">
            <a:extLst xmlns:a="http://schemas.openxmlformats.org/drawingml/2006/main">
              <a:ext uri="{FF2B5EF4-FFF2-40B4-BE49-F238E27FC236}">
                <a16:creationId xmlns:a16="http://schemas.microsoft.com/office/drawing/2014/main" id="{C68E6555-7F86-4862-B7B8-45D7B626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上手难度｜需要熟悉不同系统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办理效率｜步骤分散、容易返工</a:t>
            </a:r>
          </a:p>
        </p:txBody>
      </p:sp>
      <p:sp>
        <p:nvSpPr>
          <p:cNvPr id="19" name="s2-dano-zone">
            <a:extLst xmlns:a="http://schemas.openxmlformats.org/drawingml/2006/main">
              <a:ext uri="{FF2B5EF4-FFF2-40B4-BE49-F238E27FC236}">
                <a16:creationId xmlns:a16="http://schemas.microsoft.com/office/drawing/2014/main" id="{CFA3D6BD-1FC5-4533-972C-04AA040B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90700"/>
            <a:ext cx="6286500" cy="4038600"/>
          </a:xfrm>
          <a:prstGeom xmlns:a="http://schemas.openxmlformats.org/drawingml/2006/main" prst="roundRect">
            <a:avLst>
              <a:gd name="adj" fmla="val 51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2-dano-label">
            <a:extLst xmlns:a="http://schemas.openxmlformats.org/drawingml/2006/main">
              <a:ext uri="{FF2B5EF4-FFF2-40B4-BE49-F238E27FC236}">
                <a16:creationId xmlns:a16="http://schemas.microsoft.com/office/drawing/2014/main" id="{0C06B209-59D5-49EA-8E60-DBA5696B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95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小络助手：系统理解员工</a:t>
            </a:r>
          </a:p>
        </p:txBody>
      </p:sp>
      <p:sp>
        <p:nvSpPr>
          <p:cNvPr id="21" name="step-1-588">
            <a:extLst xmlns:a="http://schemas.openxmlformats.org/drawingml/2006/main">
              <a:ext uri="{FF2B5EF4-FFF2-40B4-BE49-F238E27FC236}">
                <a16:creationId xmlns:a16="http://schemas.microsoft.com/office/drawing/2014/main" id="{F2493C84-235C-4805-A9FC-7763B8D9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tep-label-1-588">
            <a:extLst xmlns:a="http://schemas.openxmlformats.org/drawingml/2006/main">
              <a:ext uri="{FF2B5EF4-FFF2-40B4-BE49-F238E27FC236}">
                <a16:creationId xmlns:a16="http://schemas.microsoft.com/office/drawing/2014/main" id="{917A336E-37B0-4C09-AC79-943B38AF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05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" name="cap-head-0">
            <a:extLst xmlns:a="http://schemas.openxmlformats.org/drawingml/2006/main">
              <a:ext uri="{FF2B5EF4-FFF2-40B4-BE49-F238E27FC236}">
                <a16:creationId xmlns:a16="http://schemas.microsoft.com/office/drawing/2014/main" id="{9C14DCA5-BC90-42FD-88AE-9AED354B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28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说明需求</a:t>
            </a:r>
          </a:p>
        </p:txBody>
      </p:sp>
      <p:sp>
        <p:nvSpPr>
          <p:cNvPr id="24" name="cap-copy-0">
            <a:extLst xmlns:a="http://schemas.openxmlformats.org/drawingml/2006/main">
              <a:ext uri="{FF2B5EF4-FFF2-40B4-BE49-F238E27FC236}">
                <a16:creationId xmlns:a16="http://schemas.microsoft.com/office/drawing/2014/main" id="{98AE0E19-CF5D-4FB0-A38F-7F583720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289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自然语言说清办理目标</a:t>
            </a:r>
          </a:p>
        </p:txBody>
      </p:sp>
      <p:sp>
        <p:nvSpPr>
          <p:cNvPr id="25" name="step-2-588">
            <a:extLst xmlns:a="http://schemas.openxmlformats.org/drawingml/2006/main">
              <a:ext uri="{FF2B5EF4-FFF2-40B4-BE49-F238E27FC236}">
                <a16:creationId xmlns:a16="http://schemas.microsoft.com/office/drawing/2014/main" id="{88E9CB51-4998-4A12-97EE-0BA6D198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33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tep-label-2-588">
            <a:extLst xmlns:a="http://schemas.openxmlformats.org/drawingml/2006/main">
              <a:ext uri="{FF2B5EF4-FFF2-40B4-BE49-F238E27FC236}">
                <a16:creationId xmlns:a16="http://schemas.microsoft.com/office/drawing/2014/main" id="{301C9AA5-034B-489A-B416-ACAFDEEE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71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7" name="cap-head-1">
            <a:extLst xmlns:a="http://schemas.openxmlformats.org/drawingml/2006/main">
              <a:ext uri="{FF2B5EF4-FFF2-40B4-BE49-F238E27FC236}">
                <a16:creationId xmlns:a16="http://schemas.microsoft.com/office/drawing/2014/main" id="{A0A70BEF-23D6-4BF4-8A33-6FFC60CD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956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理解意图</a:t>
            </a:r>
          </a:p>
        </p:txBody>
      </p:sp>
      <p:sp>
        <p:nvSpPr>
          <p:cNvPr id="28" name="cap-copy-1">
            <a:extLst xmlns:a="http://schemas.openxmlformats.org/drawingml/2006/main">
              <a:ext uri="{FF2B5EF4-FFF2-40B4-BE49-F238E27FC236}">
                <a16:creationId xmlns:a16="http://schemas.microsoft.com/office/drawing/2014/main" id="{EE0C93EA-EE69-4E13-9E03-A66C26D7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956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识别流程、入口与规则</a:t>
            </a:r>
          </a:p>
        </p:txBody>
      </p:sp>
      <p:sp>
        <p:nvSpPr>
          <p:cNvPr id="29" name="step-3-588">
            <a:extLst xmlns:a="http://schemas.openxmlformats.org/drawingml/2006/main">
              <a:ext uri="{FF2B5EF4-FFF2-40B4-BE49-F238E27FC236}">
                <a16:creationId xmlns:a16="http://schemas.microsoft.com/office/drawing/2014/main" id="{F9812B13-A95B-4884-A6BE-F10CF9A3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00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tep-label-3-588">
            <a:extLst xmlns:a="http://schemas.openxmlformats.org/drawingml/2006/main">
              <a:ext uri="{FF2B5EF4-FFF2-40B4-BE49-F238E27FC236}">
                <a16:creationId xmlns:a16="http://schemas.microsoft.com/office/drawing/2014/main" id="{0CDF610A-49A2-4B9A-B438-E4A35543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38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" name="cap-head-2">
            <a:extLst xmlns:a="http://schemas.openxmlformats.org/drawingml/2006/main">
              <a:ext uri="{FF2B5EF4-FFF2-40B4-BE49-F238E27FC236}">
                <a16:creationId xmlns:a16="http://schemas.microsoft.com/office/drawing/2014/main" id="{999ED3D4-6849-45A2-B4EF-0283F2A7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引导办理</a:t>
            </a:r>
          </a:p>
        </p:txBody>
      </p:sp>
      <p:sp>
        <p:nvSpPr>
          <p:cNvPr id="32" name="cap-copy-2">
            <a:extLst xmlns:a="http://schemas.openxmlformats.org/drawingml/2006/main">
              <a:ext uri="{FF2B5EF4-FFF2-40B4-BE49-F238E27FC236}">
                <a16:creationId xmlns:a16="http://schemas.microsoft.com/office/drawing/2014/main" id="{1A79DD0C-6C49-40B8-989B-C3F57AE9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624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补齐信息并集中确认</a:t>
            </a:r>
          </a:p>
        </p:txBody>
      </p:sp>
      <p:sp>
        <p:nvSpPr>
          <p:cNvPr id="33" name="step-4-588">
            <a:extLst xmlns:a="http://schemas.openxmlformats.org/drawingml/2006/main">
              <a:ext uri="{FF2B5EF4-FFF2-40B4-BE49-F238E27FC236}">
                <a16:creationId xmlns:a16="http://schemas.microsoft.com/office/drawing/2014/main" id="{BC3C999D-E5BB-43DC-9612-F802EE26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67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B36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tep-label-4-588">
            <a:extLst xmlns:a="http://schemas.openxmlformats.org/drawingml/2006/main">
              <a:ext uri="{FF2B5EF4-FFF2-40B4-BE49-F238E27FC236}">
                <a16:creationId xmlns:a16="http://schemas.microsoft.com/office/drawing/2014/main" id="{AC66966F-C549-457A-9D23-561D9FBD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7053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cap-head-3">
            <a:extLst xmlns:a="http://schemas.openxmlformats.org/drawingml/2006/main">
              <a:ext uri="{FF2B5EF4-FFF2-40B4-BE49-F238E27FC236}">
                <a16:creationId xmlns:a16="http://schemas.microsoft.com/office/drawing/2014/main" id="{6F317616-6CAC-4521-8654-C3909461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291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返回结果</a:t>
            </a:r>
          </a:p>
        </p:txBody>
      </p:sp>
      <p:sp>
        <p:nvSpPr>
          <p:cNvPr id="36" name="cap-copy-3">
            <a:extLst xmlns:a="http://schemas.openxmlformats.org/drawingml/2006/main">
              <a:ext uri="{FF2B5EF4-FFF2-40B4-BE49-F238E27FC236}">
                <a16:creationId xmlns:a16="http://schemas.microsoft.com/office/drawing/2014/main" id="{F4767E1B-7D5C-4691-8008-2B3BC295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29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状态和原系统入口返回对话</a:t>
            </a:r>
          </a:p>
        </p:txBody>
      </p:sp>
      <p:sp>
        <p:nvSpPr>
          <p:cNvPr id="37" name="s2-outcome">
            <a:extLst xmlns:a="http://schemas.openxmlformats.org/drawingml/2006/main">
              <a:ext uri="{FF2B5EF4-FFF2-40B4-BE49-F238E27FC236}">
                <a16:creationId xmlns:a16="http://schemas.microsoft.com/office/drawing/2014/main" id="{A5FBD209-ACA6-4801-9229-1872D308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0540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上手难度｜只需说清需求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办理效率｜一段对话完成</a:t>
            </a:r>
          </a:p>
        </p:txBody>
      </p:sp>
    </p:spTree>
    <p:extLst>
      <p:ext uri="{BB962C8B-B14F-4D97-AF65-F5344CB8AC3E}">
        <p14:creationId xmlns:p14="http://schemas.microsoft.com/office/powerpoint/2010/main" val="8198118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-3">
            <a:extLst xmlns:a="http://schemas.openxmlformats.org/drawingml/2006/main">
              <a:ext uri="{FF2B5EF4-FFF2-40B4-BE49-F238E27FC236}">
                <a16:creationId xmlns:a16="http://schemas.microsoft.com/office/drawing/2014/main" id="{FAD93CBA-A875-4DE6-A8DE-620B75D7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小络助手 · 使用体验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6E0E56A-82AA-4CCE-BD75-E4790C57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从一段对话，形成可追踪的业务结果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F4DA20DB-A22A-4EB8-BB27-D0AB8F82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03</a:t>
            </a:r>
          </a:p>
        </p:txBody>
      </p:sp>
      <p:sp>
        <p:nvSpPr>
          <p:cNvPr id="4" name="s3-lead">
            <a:extLst xmlns:a="http://schemas.openxmlformats.org/drawingml/2006/main">
              <a:ext uri="{FF2B5EF4-FFF2-40B4-BE49-F238E27FC236}">
                <a16:creationId xmlns:a16="http://schemas.microsoft.com/office/drawing/2014/main" id="{D75BF7BA-84D5-44DC-896A-C1611C20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需求被结构化、员工确认后提交原 OA；申请状态、异常和系统入口再返回当前对话。</a:t>
            </a:r>
          </a:p>
        </p:txBody>
      </p:sp>
      <p:sp>
        <p:nvSpPr>
          <p:cNvPr id="5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371D16B0-E18C-40BD-89B0-B6C0EFFF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05150"/>
            <a:ext cx="133350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B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EAE5D5FD-1DEE-41CC-AAE5-D3381D75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62350"/>
            <a:ext cx="133350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B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99A4A7D8-F494-42F7-88FE-3A21EAFC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19550"/>
            <a:ext cx="133350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B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C6DCF562-F9A6-4BC4-823B-762FD303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956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B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flow-node-0">
            <a:extLst xmlns:a="http://schemas.openxmlformats.org/drawingml/2006/main">
              <a:ext uri="{FF2B5EF4-FFF2-40B4-BE49-F238E27FC236}">
                <a16:creationId xmlns:a16="http://schemas.microsoft.com/office/drawing/2014/main" id="{0EF80C3D-F39C-4966-BF73-30BBBD01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6762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563EB">
              <a:alpha val="16000"/>
            </a:srgbClr>
          </a:solidFill>
          <a:ln xmlns:a="http://schemas.openxmlformats.org/drawingml/2006/main" w="9525">
            <a:solidFill>
              <a:srgbClr val="BFD1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FBBAF8D9-1F05-45A0-A3F1-77999210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288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结构化需求</a:t>
            </a:r>
          </a:p>
        </p:txBody>
      </p:sp>
      <p:sp>
        <p:nvSpPr>
          <p:cNvPr id="11" name="flow-copy-0">
            <a:extLst xmlns:a="http://schemas.openxmlformats.org/drawingml/2006/main">
              <a:ext uri="{FF2B5EF4-FFF2-40B4-BE49-F238E27FC236}">
                <a16:creationId xmlns:a16="http://schemas.microsoft.com/office/drawing/2014/main" id="{0E227B5A-FE11-405B-9D92-C8723A92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288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把对话整理成完整申请内容</a:t>
            </a:r>
          </a:p>
        </p:txBody>
      </p:sp>
      <p:sp>
        <p:nvSpPr>
          <p:cNvPr id="12" name="flow-node-1">
            <a:extLst xmlns:a="http://schemas.openxmlformats.org/drawingml/2006/main">
              <a:ext uri="{FF2B5EF4-FFF2-40B4-BE49-F238E27FC236}">
                <a16:creationId xmlns:a16="http://schemas.microsoft.com/office/drawing/2014/main" id="{9915E491-9798-4AD6-817F-87BF9208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6762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2A1B2">
              <a:alpha val="14000"/>
            </a:srgbClr>
          </a:solidFill>
          <a:ln xmlns:a="http://schemas.openxmlformats.org/drawingml/2006/main" w="9525">
            <a:solidFill>
              <a:srgbClr val="B8DB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579A6D18-B3FF-4B99-BB3D-F1D6A42E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758A"/>
                </a:solidFill>
              </a:defRPr>
            </a:pPr>
            <a:r>
              <a:rPr sz="1650" b="1">
                <a:solidFill>
                  <a:srgbClr val="22758A"/>
                </a:solidFill>
              </a:rPr>
              <a:t>员工确认</a:t>
            </a:r>
          </a:p>
        </p:txBody>
      </p:sp>
      <p:sp>
        <p:nvSpPr>
          <p:cNvPr id="14" name="flow-copy-1">
            <a:extLst xmlns:a="http://schemas.openxmlformats.org/drawingml/2006/main">
              <a:ext uri="{FF2B5EF4-FFF2-40B4-BE49-F238E27FC236}">
                <a16:creationId xmlns:a16="http://schemas.microsoft.com/office/drawing/2014/main" id="{267B04B0-5C52-4F6D-9904-7E7367C8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337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提交前核对关键字段与规则</a:t>
            </a:r>
          </a:p>
        </p:txBody>
      </p:sp>
      <p:sp>
        <p:nvSpPr>
          <p:cNvPr id="15" name="flow-node-2">
            <a:extLst xmlns:a="http://schemas.openxmlformats.org/drawingml/2006/main">
              <a:ext uri="{FF2B5EF4-FFF2-40B4-BE49-F238E27FC236}">
                <a16:creationId xmlns:a16="http://schemas.microsoft.com/office/drawing/2014/main" id="{0C0448B5-1FD1-4A9A-8115-511E3750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6762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7C3AED">
              <a:alpha val="14000"/>
            </a:srgbClr>
          </a:solidFill>
          <a:ln xmlns:a="http://schemas.openxmlformats.org/drawingml/2006/main" w="9525">
            <a:solidFill>
              <a:srgbClr val="D7C7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7637E25B-FFEE-4547-AC1C-D5EA75FF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原 OA 执行</a:t>
            </a:r>
          </a:p>
        </p:txBody>
      </p:sp>
      <p:sp>
        <p:nvSpPr>
          <p:cNvPr id="17" name="flow-copy-2">
            <a:extLst xmlns:a="http://schemas.openxmlformats.org/drawingml/2006/main">
              <a:ext uri="{FF2B5EF4-FFF2-40B4-BE49-F238E27FC236}">
                <a16:creationId xmlns:a16="http://schemas.microsoft.com/office/drawing/2014/main" id="{3A830014-4E8A-45E1-92DD-283DC29D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385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沿用身份、权限和流程完成提交</a:t>
            </a:r>
          </a:p>
        </p:txBody>
      </p:sp>
      <p:sp>
        <p:nvSpPr>
          <p:cNvPr id="18" name="flow-node-3">
            <a:extLst xmlns:a="http://schemas.openxmlformats.org/drawingml/2006/main">
              <a:ext uri="{FF2B5EF4-FFF2-40B4-BE49-F238E27FC236}">
                <a16:creationId xmlns:a16="http://schemas.microsoft.com/office/drawing/2014/main" id="{915E3049-12F8-4F50-BD73-7CE52D77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6762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57B36A">
              <a:alpha val="16000"/>
            </a:srgbClr>
          </a:solidFill>
          <a:ln xmlns:a="http://schemas.openxmlformats.org/drawingml/2006/main" w="9525">
            <a:solidFill>
              <a:srgbClr val="B9DE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8CDEFABE-086C-4BB2-A812-6CD4E007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434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7D42"/>
                </a:solidFill>
              </a:defRPr>
            </a:pPr>
            <a:r>
              <a:rPr sz="1650" b="1">
                <a:solidFill>
                  <a:srgbClr val="2F7D42"/>
                </a:solidFill>
              </a:rPr>
              <a:t>结果回传</a:t>
            </a:r>
          </a:p>
        </p:txBody>
      </p:sp>
      <p:sp>
        <p:nvSpPr>
          <p:cNvPr id="20" name="flow-copy-3">
            <a:extLst xmlns:a="http://schemas.openxmlformats.org/drawingml/2006/main">
              <a:ext uri="{FF2B5EF4-FFF2-40B4-BE49-F238E27FC236}">
                <a16:creationId xmlns:a16="http://schemas.microsoft.com/office/drawing/2014/main" id="{4A5D9F2D-DC7D-4593-B65C-F47EF745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434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状态、异常和系统入口返回对话</a:t>
            </a:r>
          </a:p>
        </p:txBody>
      </p:sp>
      <p:sp>
        <p:nvSpPr>
          <p:cNvPr id="21" name="flow-node-4">
            <a:extLst xmlns:a="http://schemas.openxmlformats.org/drawingml/2006/main">
              <a:ext uri="{FF2B5EF4-FFF2-40B4-BE49-F238E27FC236}">
                <a16:creationId xmlns:a16="http://schemas.microsoft.com/office/drawing/2014/main" id="{B7A35532-A72A-4D29-B58C-88200F91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3333750" cy="2705100"/>
          </a:xfrm>
          <a:prstGeom xmlns:a="http://schemas.openxmlformats.org/drawingml/2006/main" prst="roundRect">
            <a:avLst>
              <a:gd name="adj" fmla="val 6338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8BCB9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F1EF7EEA-CDD0-490F-A355-A4880CED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7D42"/>
                </a:solidFill>
              </a:defRPr>
            </a:pPr>
            <a:r>
              <a:rPr sz="1800" b="1">
                <a:solidFill>
                  <a:srgbClr val="2F7D42"/>
                </a:solidFill>
              </a:rPr>
              <a:t>业务结果可追踪</a:t>
            </a:r>
          </a:p>
        </p:txBody>
      </p:sp>
      <p:sp>
        <p:nvSpPr>
          <p:cNvPr id="23" name="flow-copy-4">
            <a:extLst xmlns:a="http://schemas.openxmlformats.org/drawingml/2006/main">
              <a:ext uri="{FF2B5EF4-FFF2-40B4-BE49-F238E27FC236}">
                <a16:creationId xmlns:a16="http://schemas.microsoft.com/office/drawing/2014/main" id="{88B0170F-5776-4A39-BA87-D89A55D0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09900"/>
            <a:ext cx="25527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申请单号　对应业务记录
当前状态　持续查询进度
原系统入口　直达办理页面</a:t>
            </a:r>
          </a:p>
        </p:txBody>
      </p:sp>
      <p:sp>
        <p:nvSpPr>
          <p:cNvPr id="24" name="s3-separator">
            <a:extLst xmlns:a="http://schemas.openxmlformats.org/drawingml/2006/main">
              <a:ext uri="{FF2B5EF4-FFF2-40B4-BE49-F238E27FC236}">
                <a16:creationId xmlns:a16="http://schemas.microsoft.com/office/drawing/2014/main" id="{CCA498D1-0C79-488B-A5FB-9C2ACD68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3-boundary-title">
            <a:extLst xmlns:a="http://schemas.openxmlformats.org/drawingml/2006/main">
              <a:ext uri="{FF2B5EF4-FFF2-40B4-BE49-F238E27FC236}">
                <a16:creationId xmlns:a16="http://schemas.microsoft.com/office/drawing/2014/main" id="{E9C2A63B-7E73-453A-BFF7-45BBC362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追踪依据</a:t>
            </a:r>
          </a:p>
        </p:txBody>
      </p:sp>
      <p:sp>
        <p:nvSpPr>
          <p:cNvPr id="26" name="boundary-dot-0">
            <a:extLst xmlns:a="http://schemas.openxmlformats.org/drawingml/2006/main">
              <a:ext uri="{FF2B5EF4-FFF2-40B4-BE49-F238E27FC236}">
                <a16:creationId xmlns:a16="http://schemas.microsoft.com/office/drawing/2014/main" id="{D3FAB259-EF68-409D-84CD-8AC98E27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638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boundary-head-0">
            <a:extLst xmlns:a="http://schemas.openxmlformats.org/drawingml/2006/main">
              <a:ext uri="{FF2B5EF4-FFF2-40B4-BE49-F238E27FC236}">
                <a16:creationId xmlns:a16="http://schemas.microsoft.com/office/drawing/2014/main" id="{E5E27734-3D59-44DE-888F-8A151C84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43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申请内容可查</a:t>
            </a:r>
          </a:p>
        </p:txBody>
      </p:sp>
      <p:sp>
        <p:nvSpPr>
          <p:cNvPr id="28" name="boundary-copy-0">
            <a:extLst xmlns:a="http://schemas.openxmlformats.org/drawingml/2006/main">
              <a:ext uri="{FF2B5EF4-FFF2-40B4-BE49-F238E27FC236}">
                <a16:creationId xmlns:a16="http://schemas.microsoft.com/office/drawing/2014/main" id="{10B33BEF-D003-4170-BBA6-B8A7356A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886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保留结构化申请字段</a:t>
            </a:r>
          </a:p>
        </p:txBody>
      </p:sp>
      <p:sp>
        <p:nvSpPr>
          <p:cNvPr id="29" name="boundary-dot-1">
            <a:extLst xmlns:a="http://schemas.openxmlformats.org/drawingml/2006/main">
              <a:ext uri="{FF2B5EF4-FFF2-40B4-BE49-F238E27FC236}">
                <a16:creationId xmlns:a16="http://schemas.microsoft.com/office/drawing/2014/main" id="{B1378D1F-A3EC-4FE9-902C-F90D3222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638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B36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boundary-head-1">
            <a:extLst xmlns:a="http://schemas.openxmlformats.org/drawingml/2006/main">
              <a:ext uri="{FF2B5EF4-FFF2-40B4-BE49-F238E27FC236}">
                <a16:creationId xmlns:a16="http://schemas.microsoft.com/office/drawing/2014/main" id="{2102046C-D820-433B-BE63-0B2AD75B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543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提交记录可核</a:t>
            </a:r>
          </a:p>
        </p:txBody>
      </p:sp>
      <p:sp>
        <p:nvSpPr>
          <p:cNvPr id="31" name="boundary-copy-1">
            <a:extLst xmlns:a="http://schemas.openxmlformats.org/drawingml/2006/main">
              <a:ext uri="{FF2B5EF4-FFF2-40B4-BE49-F238E27FC236}">
                <a16:creationId xmlns:a16="http://schemas.microsoft.com/office/drawing/2014/main" id="{B5A68E13-FCF2-42C2-96AC-7F623056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886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原 OA 生成业务单据</a:t>
            </a:r>
          </a:p>
        </p:txBody>
      </p:sp>
      <p:sp>
        <p:nvSpPr>
          <p:cNvPr id="32" name="boundary-dot-2">
            <a:extLst xmlns:a="http://schemas.openxmlformats.org/drawingml/2006/main">
              <a:ext uri="{FF2B5EF4-FFF2-40B4-BE49-F238E27FC236}">
                <a16:creationId xmlns:a16="http://schemas.microsoft.com/office/drawing/2014/main" id="{403C05E8-5152-4289-BAEF-C2F92742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38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boundary-head-2">
            <a:extLst xmlns:a="http://schemas.openxmlformats.org/drawingml/2006/main">
              <a:ext uri="{FF2B5EF4-FFF2-40B4-BE49-F238E27FC236}">
                <a16:creationId xmlns:a16="http://schemas.microsoft.com/office/drawing/2014/main" id="{0E24CBED-5549-4A3E-97CF-34AF96B3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543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处理状态可追</a:t>
            </a:r>
          </a:p>
        </p:txBody>
      </p:sp>
      <p:sp>
        <p:nvSpPr>
          <p:cNvPr id="34" name="boundary-copy-2">
            <a:extLst xmlns:a="http://schemas.openxmlformats.org/drawingml/2006/main">
              <a:ext uri="{FF2B5EF4-FFF2-40B4-BE49-F238E27FC236}">
                <a16:creationId xmlns:a16="http://schemas.microsoft.com/office/drawing/2014/main" id="{9F673FC2-1FA3-48D1-A988-D4F8B606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886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对话中查询并直达原系统</a:t>
            </a:r>
          </a:p>
        </p:txBody>
      </p:sp>
    </p:spTree>
    <p:extLst>
      <p:ext uri="{BB962C8B-B14F-4D97-AF65-F5344CB8AC3E}">
        <p14:creationId xmlns:p14="http://schemas.microsoft.com/office/powerpoint/2010/main" val="2810119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5">
            <a:extLst xmlns:a="http://schemas.openxmlformats.org/drawingml/2006/main">
              <a:ext uri="{FF2B5EF4-FFF2-40B4-BE49-F238E27FC236}">
                <a16:creationId xmlns:a16="http://schemas.microsoft.com/office/drawing/2014/main" id="{4A7C862C-4869-43B1-89EA-24F75B7E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生产环境演示 · 酒店申请 · 1/3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9345AFC6-6FA4-4C0C-9751-AEB6FA92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酒店申请演示｜员工如何发起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5DB3CFBC-60AF-4EB0-B28B-0E28CFD0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04</a:t>
            </a:r>
          </a:p>
        </p:txBody>
      </p:sp>
      <p:sp>
        <p:nvSpPr>
          <p:cNvPr id="4" name="s5-lead">
            <a:extLst xmlns:a="http://schemas.openxmlformats.org/drawingml/2006/main">
              <a:ext uri="{FF2B5EF4-FFF2-40B4-BE49-F238E27FC236}">
                <a16:creationId xmlns:a16="http://schemas.microsoft.com/office/drawing/2014/main" id="{F5787F0B-455A-44A1-953F-24E27094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员工在对话框说明目标、关键条件和确认要求，也可点击“申请酒店”快捷入口。</a:t>
            </a:r>
          </a:p>
        </p:txBody>
      </p:sp>
      <p:sp>
        <p:nvSpPr>
          <p:cNvPr id="5" name="success-shot-shadow">
            <a:extLst xmlns:a="http://schemas.openxmlformats.org/drawingml/2006/main">
              <a:ext uri="{FF2B5EF4-FFF2-40B4-BE49-F238E27FC236}">
                <a16:creationId xmlns:a16="http://schemas.microsoft.com/office/drawing/2014/main" id="{71B90114-BD63-4142-AA68-18619FB6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741045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5-proof-label">
            <a:extLst xmlns:a="http://schemas.openxmlformats.org/drawingml/2006/main">
              <a:ext uri="{FF2B5EF4-FFF2-40B4-BE49-F238E27FC236}">
                <a16:creationId xmlns:a16="http://schemas.microsoft.com/office/drawing/2014/main" id="{297DCF6E-BEA0-47F7-864A-474D490A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2B36B"/>
                </a:solidFill>
              </a:defRPr>
            </a:pPr>
            <a:r>
              <a:rPr sz="1200" b="1">
                <a:solidFill>
                  <a:srgbClr val="62B36B"/>
                </a:solidFill>
              </a:rPr>
              <a:t>员工输入示例</a:t>
            </a:r>
          </a:p>
        </p:txBody>
      </p:sp>
      <p:sp>
        <p:nvSpPr>
          <p:cNvPr id="8" name="s5-proof-head">
            <a:extLst xmlns:a="http://schemas.openxmlformats.org/drawingml/2006/main">
              <a:ext uri="{FF2B5EF4-FFF2-40B4-BE49-F238E27FC236}">
                <a16:creationId xmlns:a16="http://schemas.microsoft.com/office/drawing/2014/main" id="{9E3B2A15-63F2-45A2-98F1-4EF8EBEF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98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把业务目标一次说清</a:t>
            </a:r>
          </a:p>
        </p:txBody>
      </p:sp>
      <p:sp>
        <p:nvSpPr>
          <p:cNvPr id="9" name="proof-num-0">
            <a:extLst xmlns:a="http://schemas.openxmlformats.org/drawingml/2006/main">
              <a:ext uri="{FF2B5EF4-FFF2-40B4-BE49-F238E27FC236}">
                <a16:creationId xmlns:a16="http://schemas.microsoft.com/office/drawing/2014/main" id="{ACEF0BA3-71DB-4A7B-B8F4-94A38D9E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52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10" name="proof-copy-0">
            <a:extLst xmlns:a="http://schemas.openxmlformats.org/drawingml/2006/main">
              <a:ext uri="{FF2B5EF4-FFF2-40B4-BE49-F238E27FC236}">
                <a16:creationId xmlns:a16="http://schemas.microsoft.com/office/drawing/2014/main" id="{840765CF-5CE7-4A2B-B638-DE2EB339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1465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我要申请酒店住宿</a:t>
            </a:r>
          </a:p>
        </p:txBody>
      </p:sp>
      <p:sp>
        <p:nvSpPr>
          <p:cNvPr id="11" name="proof-line-0">
            <a:extLst xmlns:a="http://schemas.openxmlformats.org/drawingml/2006/main">
              <a:ext uri="{FF2B5EF4-FFF2-40B4-BE49-F238E27FC236}">
                <a16:creationId xmlns:a16="http://schemas.microsoft.com/office/drawing/2014/main" id="{6B29C561-1E1A-4BF3-BDCC-DA435C9F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909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proof-num-1">
            <a:extLst xmlns:a="http://schemas.openxmlformats.org/drawingml/2006/main">
              <a:ext uri="{FF2B5EF4-FFF2-40B4-BE49-F238E27FC236}">
                <a16:creationId xmlns:a16="http://schemas.microsoft.com/office/drawing/2014/main" id="{E66D69C2-C66B-4546-9AB9-6C90C97A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3" name="proof-copy-1">
            <a:extLst xmlns:a="http://schemas.openxmlformats.org/drawingml/2006/main">
              <a:ext uri="{FF2B5EF4-FFF2-40B4-BE49-F238E27FC236}">
                <a16:creationId xmlns:a16="http://schemas.microsoft.com/office/drawing/2014/main" id="{323FD464-5BA4-48C0-B822-5612200E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195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上海浦东｜1人1晚｜大床房｜预算1200元</a:t>
            </a:r>
          </a:p>
        </p:txBody>
      </p:sp>
      <p:sp>
        <p:nvSpPr>
          <p:cNvPr id="14" name="proof-line-1">
            <a:extLst xmlns:a="http://schemas.openxmlformats.org/drawingml/2006/main">
              <a:ext uri="{FF2B5EF4-FFF2-40B4-BE49-F238E27FC236}">
                <a16:creationId xmlns:a16="http://schemas.microsoft.com/office/drawing/2014/main" id="{5332F65B-2595-4A16-BC11-F4223D2B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957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proof-num-2">
            <a:extLst xmlns:a="http://schemas.openxmlformats.org/drawingml/2006/main">
              <a:ext uri="{FF2B5EF4-FFF2-40B4-BE49-F238E27FC236}">
                <a16:creationId xmlns:a16="http://schemas.microsoft.com/office/drawing/2014/main" id="{BEEA0807-F778-4518-AA12-FA0DB1FE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62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2B36B"/>
                </a:solidFill>
              </a:defRPr>
            </a:pPr>
            <a:r>
              <a:rPr sz="1125" b="1">
                <a:solidFill>
                  <a:srgbClr val="62B36B"/>
                </a:solidFill>
              </a:rPr>
              <a:t>03</a:t>
            </a:r>
          </a:p>
        </p:txBody>
      </p:sp>
      <p:sp>
        <p:nvSpPr>
          <p:cNvPr id="16" name="proof-copy-2">
            <a:extLst xmlns:a="http://schemas.openxmlformats.org/drawingml/2006/main">
              <a:ext uri="{FF2B5EF4-FFF2-40B4-BE49-F238E27FC236}">
                <a16:creationId xmlns:a16="http://schemas.microsoft.com/office/drawing/2014/main" id="{5C8F6339-E73D-48BA-B336-2F61C298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2435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生成申请表，提交前确认</a:t>
            </a:r>
          </a:p>
        </p:txBody>
      </p:sp>
      <p:sp>
        <p:nvSpPr>
          <p:cNvPr id="17" name="s5-eff">
            <a:extLst xmlns:a="http://schemas.openxmlformats.org/drawingml/2006/main">
              <a:ext uri="{FF2B5EF4-FFF2-40B4-BE49-F238E27FC236}">
                <a16:creationId xmlns:a16="http://schemas.microsoft.com/office/drawing/2014/main" id="{EA4ABED4-5A06-470D-87CA-1EC6DAAC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81600"/>
            <a:ext cx="28575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FFAF2">
              <a:alpha val="86000"/>
            </a:srgbClr>
          </a:solidFill>
          <a:ln xmlns:a="http://schemas.openxmlformats.org/drawingml/2006/main" w="9525">
            <a:solidFill>
              <a:srgbClr val="B6D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5-eff-head">
            <a:extLst xmlns:a="http://schemas.openxmlformats.org/drawingml/2006/main">
              <a:ext uri="{FF2B5EF4-FFF2-40B4-BE49-F238E27FC236}">
                <a16:creationId xmlns:a16="http://schemas.microsoft.com/office/drawing/2014/main" id="{527CE813-E475-4C63-8739-CB455F2E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76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D42"/>
                </a:solidFill>
              </a:defRPr>
            </a:pPr>
            <a:r>
              <a:rPr sz="1350" b="1">
                <a:solidFill>
                  <a:srgbClr val="2F7D42"/>
                </a:solidFill>
              </a:rPr>
              <a:t>输入方式</a:t>
            </a:r>
          </a:p>
        </p:txBody>
      </p:sp>
      <p:sp>
        <p:nvSpPr>
          <p:cNvPr id="19" name="s5-eff-copy">
            <a:extLst xmlns:a="http://schemas.openxmlformats.org/drawingml/2006/main">
              <a:ext uri="{FF2B5EF4-FFF2-40B4-BE49-F238E27FC236}">
                <a16:creationId xmlns:a16="http://schemas.microsoft.com/office/drawing/2014/main" id="{3F0E1935-6F33-4296-AA16-AEFE2785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581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对话框输入，或点击“申请酒店”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f48317fc445ff"/>
          <a:srcRect xmlns:a="http://schemas.openxmlformats.org/drawingml/2006/main" l="157" t="0" r="1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5804" y="1790700"/>
            <a:ext cx="6852342" cy="4124325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387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4">
            <a:extLst xmlns:a="http://schemas.openxmlformats.org/drawingml/2006/main">
              <a:ext uri="{FF2B5EF4-FFF2-40B4-BE49-F238E27FC236}">
                <a16:creationId xmlns:a16="http://schemas.microsoft.com/office/drawing/2014/main" id="{240F9F7E-AE57-463D-BE81-B973F078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生产环境演示 · 酒店申请 · 2/3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8B8B2CB5-F0A7-4438-A3D4-75A05C68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酒店申请演示｜信息生成与员工确认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F6F0EE37-86F7-41E0-8199-C5719B1B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05</a:t>
            </a:r>
          </a:p>
        </p:txBody>
      </p:sp>
      <p:sp>
        <p:nvSpPr>
          <p:cNvPr id="4" name="s4-lead">
            <a:extLst xmlns:a="http://schemas.openxmlformats.org/drawingml/2006/main">
              <a:ext uri="{FF2B5EF4-FFF2-40B4-BE49-F238E27FC236}">
                <a16:creationId xmlns:a16="http://schemas.microsoft.com/office/drawing/2014/main" id="{5B6ED292-279A-411B-8A63-4951B8AF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员工说明住宿需求，小络助手生成完整申请；提交前，员工核对所有关键字段。</a:t>
            </a:r>
          </a:p>
        </p:txBody>
      </p:sp>
      <p:sp>
        <p:nvSpPr>
          <p:cNvPr id="5" name="home-shot-shadow">
            <a:extLst xmlns:a="http://schemas.openxmlformats.org/drawingml/2006/main">
              <a:ext uri="{FF2B5EF4-FFF2-40B4-BE49-F238E27FC236}">
                <a16:creationId xmlns:a16="http://schemas.microsoft.com/office/drawing/2014/main" id="{88CDD249-9B54-481A-9169-C757FB75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5295900" cy="30099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4d16e8b964e26"/>
          <a:srcRect xmlns:a="http://schemas.openxmlformats.org/drawingml/2006/main" l="0" t="1446" r="0" b="14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05025" y="1866900"/>
            <a:ext cx="5019350" cy="2933700"/>
          </a:xfrm>
          <a:prstGeom xmlns:a="http://schemas.openxmlformats.org/drawingml/2006/main" prst="roundRect">
            <a:avLst/>
          </a:prstGeom>
        </p:spPr>
      </p:pic>
      <p:sp>
        <p:nvSpPr>
          <p:cNvPr id="7" name="form-shot-shadow">
            <a:extLst xmlns:a="http://schemas.openxmlformats.org/drawingml/2006/main">
              <a:ext uri="{FF2B5EF4-FFF2-40B4-BE49-F238E27FC236}">
                <a16:creationId xmlns:a16="http://schemas.microsoft.com/office/drawing/2014/main" id="{0605C00F-73D1-4DA1-A02F-39549652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28800"/>
            <a:ext cx="5295900" cy="30099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7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66caeabf343e4"/>
          <a:srcRect xmlns:a="http://schemas.openxmlformats.org/drawingml/2006/main" l="0" t="3310" r="0" b="33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67450" y="1866900"/>
            <a:ext cx="5219700" cy="2933700"/>
          </a:xfrm>
          <a:prstGeom xmlns:a="http://schemas.openxmlformats.org/drawingml/2006/main" prst="roundRect">
            <a:avLst/>
          </a:prstGeom>
        </p:spPr>
      </p:pic>
      <p:sp>
        <p:nvSpPr>
          <p:cNvPr id="9" name="step-1-86">
            <a:extLst xmlns:a="http://schemas.openxmlformats.org/drawingml/2006/main">
              <a:ext uri="{FF2B5EF4-FFF2-40B4-BE49-F238E27FC236}">
                <a16:creationId xmlns:a16="http://schemas.microsoft.com/office/drawing/2014/main" id="{FCBF6566-F597-4275-A82B-56B739B0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tep-label-1-86">
            <a:extLst xmlns:a="http://schemas.openxmlformats.org/drawingml/2006/main">
              <a:ext uri="{FF2B5EF4-FFF2-40B4-BE49-F238E27FC236}">
                <a16:creationId xmlns:a16="http://schemas.microsoft.com/office/drawing/2014/main" id="{AFB54DFB-8CF6-4ABE-8D97-60FD63B1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s4-step1-head">
            <a:extLst xmlns:a="http://schemas.openxmlformats.org/drawingml/2006/main">
              <a:ext uri="{FF2B5EF4-FFF2-40B4-BE49-F238E27FC236}">
                <a16:creationId xmlns:a16="http://schemas.microsoft.com/office/drawing/2014/main" id="{27AB16BA-8FF0-47C5-B79E-9EC99355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72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申请信息自动生成</a:t>
            </a:r>
          </a:p>
        </p:txBody>
      </p:sp>
      <p:sp>
        <p:nvSpPr>
          <p:cNvPr id="12" name="s4-step1-copy">
            <a:extLst xmlns:a="http://schemas.openxmlformats.org/drawingml/2006/main">
              <a:ext uri="{FF2B5EF4-FFF2-40B4-BE49-F238E27FC236}">
                <a16:creationId xmlns:a16="http://schemas.microsoft.com/office/drawing/2014/main" id="{21882F6E-83B9-4B23-9113-2A585AA8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149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自然语言需求转成完整业务字段</a:t>
            </a:r>
          </a:p>
        </p:txBody>
      </p:sp>
      <p:sp>
        <p:nvSpPr>
          <p:cNvPr id="13" name="step-2-670">
            <a:extLst xmlns:a="http://schemas.openxmlformats.org/drawingml/2006/main">
              <a:ext uri="{FF2B5EF4-FFF2-40B4-BE49-F238E27FC236}">
                <a16:creationId xmlns:a16="http://schemas.microsoft.com/office/drawing/2014/main" id="{5F064FE1-6502-448C-AF01-F4B93D55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91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tep-label-2-670">
            <a:extLst xmlns:a="http://schemas.openxmlformats.org/drawingml/2006/main">
              <a:ext uri="{FF2B5EF4-FFF2-40B4-BE49-F238E27FC236}">
                <a16:creationId xmlns:a16="http://schemas.microsoft.com/office/drawing/2014/main" id="{EED5C301-BB05-478B-B036-787B6B23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292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s4-step2-head">
            <a:extLst xmlns:a="http://schemas.openxmlformats.org/drawingml/2006/main">
              <a:ext uri="{FF2B5EF4-FFF2-40B4-BE49-F238E27FC236}">
                <a16:creationId xmlns:a16="http://schemas.microsoft.com/office/drawing/2014/main" id="{FF6C0AA3-3235-4723-AB24-BEA4CD40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72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员工核对并确认</a:t>
            </a:r>
          </a:p>
        </p:txBody>
      </p:sp>
      <p:sp>
        <p:nvSpPr>
          <p:cNvPr id="16" name="s4-step2-copy">
            <a:extLst xmlns:a="http://schemas.openxmlformats.org/drawingml/2006/main">
              <a:ext uri="{FF2B5EF4-FFF2-40B4-BE49-F238E27FC236}">
                <a16:creationId xmlns:a16="http://schemas.microsoft.com/office/drawing/2014/main" id="{4D2935D7-3E8A-4402-AB5C-C7E5B3D2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3149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关键内容清晰可见，确认后再提交</a:t>
            </a:r>
          </a:p>
        </p:txBody>
      </p:sp>
    </p:spTree>
    <p:extLst>
      <p:ext uri="{BB962C8B-B14F-4D97-AF65-F5344CB8AC3E}">
        <p14:creationId xmlns:p14="http://schemas.microsoft.com/office/powerpoint/2010/main" val="2170015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5">
            <a:extLst xmlns:a="http://schemas.openxmlformats.org/drawingml/2006/main">
              <a:ext uri="{FF2B5EF4-FFF2-40B4-BE49-F238E27FC236}">
                <a16:creationId xmlns:a16="http://schemas.microsoft.com/office/drawing/2014/main" id="{4A7C862C-4869-43B1-89EA-24F75B7E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生产环境演示 · 酒店申请 · 3/3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9345AFC6-6FA4-4C0C-9751-AEB6FA92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酒店申请演示｜提交结果与状态追踪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5DB3CFBC-60AF-4EB0-B28B-0E28CFD0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06</a:t>
            </a:r>
          </a:p>
        </p:txBody>
      </p:sp>
      <p:sp>
        <p:nvSpPr>
          <p:cNvPr id="4" name="s5-lead">
            <a:extLst xmlns:a="http://schemas.openxmlformats.org/drawingml/2006/main">
              <a:ext uri="{FF2B5EF4-FFF2-40B4-BE49-F238E27FC236}">
                <a16:creationId xmlns:a16="http://schemas.microsoft.com/office/drawing/2014/main" id="{F5787F0B-455A-44A1-953F-24E27094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确认后在原 OA 完成提交；结果返回当前对话，后续可查询状态并直达原系统。</a:t>
            </a:r>
          </a:p>
        </p:txBody>
      </p:sp>
      <p:sp>
        <p:nvSpPr>
          <p:cNvPr id="5" name="success-shot-shadow">
            <a:extLst xmlns:a="http://schemas.openxmlformats.org/drawingml/2006/main">
              <a:ext uri="{FF2B5EF4-FFF2-40B4-BE49-F238E27FC236}">
                <a16:creationId xmlns:a16="http://schemas.microsoft.com/office/drawing/2014/main" id="{71B90114-BD63-4142-AA68-18619FB6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741045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7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08ca881be4ca3"/>
          <a:stretch xmlns:a="http://schemas.openxmlformats.org/drawingml/2006/main"/>
        </p:blipFill>
        <p:spPr>
          <a:xfrm xmlns:a="http://schemas.openxmlformats.org/drawingml/2006/main" flipH="0" flipV="0">
            <a:off x="945804" y="1790700"/>
            <a:ext cx="6852342" cy="4124325"/>
          </a:xfrm>
          <a:prstGeom xmlns:a="http://schemas.openxmlformats.org/drawingml/2006/main" prst="roundRect">
            <a:avLst/>
          </a:prstGeom>
        </p:spPr>
      </p:pic>
      <p:sp>
        <p:nvSpPr>
          <p:cNvPr id="7" name="s5-proof-label">
            <a:extLst xmlns:a="http://schemas.openxmlformats.org/drawingml/2006/main">
              <a:ext uri="{FF2B5EF4-FFF2-40B4-BE49-F238E27FC236}">
                <a16:creationId xmlns:a16="http://schemas.microsoft.com/office/drawing/2014/main" id="{297DCF6E-BEA0-47F7-864A-474D490A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2B36B"/>
                </a:solidFill>
              </a:defRPr>
            </a:pPr>
            <a:r>
              <a:rPr sz="1200" b="1">
                <a:solidFill>
                  <a:srgbClr val="62B36B"/>
                </a:solidFill>
              </a:rPr>
              <a:t>可追踪结果</a:t>
            </a:r>
          </a:p>
        </p:txBody>
      </p:sp>
      <p:sp>
        <p:nvSpPr>
          <p:cNvPr id="8" name="s5-proof-head">
            <a:extLst xmlns:a="http://schemas.openxmlformats.org/drawingml/2006/main">
              <a:ext uri="{FF2B5EF4-FFF2-40B4-BE49-F238E27FC236}">
                <a16:creationId xmlns:a16="http://schemas.microsoft.com/office/drawing/2014/main" id="{9E3B2A15-63F2-45A2-98F1-4EF8EBEF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98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申请状态持续可查</a:t>
            </a:r>
          </a:p>
        </p:txBody>
      </p:sp>
      <p:sp>
        <p:nvSpPr>
          <p:cNvPr id="9" name="proof-num-0">
            <a:extLst xmlns:a="http://schemas.openxmlformats.org/drawingml/2006/main">
              <a:ext uri="{FF2B5EF4-FFF2-40B4-BE49-F238E27FC236}">
                <a16:creationId xmlns:a16="http://schemas.microsoft.com/office/drawing/2014/main" id="{ACEF0BA3-71DB-4A7B-B8F4-94A38D9E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52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10" name="proof-copy-0">
            <a:extLst xmlns:a="http://schemas.openxmlformats.org/drawingml/2006/main">
              <a:ext uri="{FF2B5EF4-FFF2-40B4-BE49-F238E27FC236}">
                <a16:creationId xmlns:a16="http://schemas.microsoft.com/office/drawing/2014/main" id="{840765CF-5CE7-4A2B-B638-DE2EB339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1465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原 OA 完成提交</a:t>
            </a:r>
          </a:p>
        </p:txBody>
      </p:sp>
      <p:sp>
        <p:nvSpPr>
          <p:cNvPr id="11" name="proof-line-0">
            <a:extLst xmlns:a="http://schemas.openxmlformats.org/drawingml/2006/main">
              <a:ext uri="{FF2B5EF4-FFF2-40B4-BE49-F238E27FC236}">
                <a16:creationId xmlns:a16="http://schemas.microsoft.com/office/drawing/2014/main" id="{6B29C561-1E1A-4BF3-BDCC-DA435C9F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909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proof-num-1">
            <a:extLst xmlns:a="http://schemas.openxmlformats.org/drawingml/2006/main">
              <a:ext uri="{FF2B5EF4-FFF2-40B4-BE49-F238E27FC236}">
                <a16:creationId xmlns:a16="http://schemas.microsoft.com/office/drawing/2014/main" id="{E66D69C2-C66B-4546-9AB9-6C90C97A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3" name="proof-copy-1">
            <a:extLst xmlns:a="http://schemas.openxmlformats.org/drawingml/2006/main">
              <a:ext uri="{FF2B5EF4-FFF2-40B4-BE49-F238E27FC236}">
                <a16:creationId xmlns:a16="http://schemas.microsoft.com/office/drawing/2014/main" id="{323FD464-5BA4-48C0-B822-5612200E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195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返回单号与审批状态</a:t>
            </a:r>
          </a:p>
        </p:txBody>
      </p:sp>
      <p:sp>
        <p:nvSpPr>
          <p:cNvPr id="14" name="proof-line-1">
            <a:extLst xmlns:a="http://schemas.openxmlformats.org/drawingml/2006/main">
              <a:ext uri="{FF2B5EF4-FFF2-40B4-BE49-F238E27FC236}">
                <a16:creationId xmlns:a16="http://schemas.microsoft.com/office/drawing/2014/main" id="{5332F65B-2595-4A16-BC11-F4223D2B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957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proof-num-2">
            <a:extLst xmlns:a="http://schemas.openxmlformats.org/drawingml/2006/main">
              <a:ext uri="{FF2B5EF4-FFF2-40B4-BE49-F238E27FC236}">
                <a16:creationId xmlns:a16="http://schemas.microsoft.com/office/drawing/2014/main" id="{BEEA0807-F778-4518-AA12-FA0DB1FE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62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2B36B"/>
                </a:solidFill>
              </a:defRPr>
            </a:pPr>
            <a:r>
              <a:rPr sz="1125" b="1">
                <a:solidFill>
                  <a:srgbClr val="62B36B"/>
                </a:solidFill>
              </a:rPr>
              <a:t>03</a:t>
            </a:r>
          </a:p>
        </p:txBody>
      </p:sp>
      <p:sp>
        <p:nvSpPr>
          <p:cNvPr id="16" name="proof-copy-2">
            <a:extLst xmlns:a="http://schemas.openxmlformats.org/drawingml/2006/main">
              <a:ext uri="{FF2B5EF4-FFF2-40B4-BE49-F238E27FC236}">
                <a16:creationId xmlns:a16="http://schemas.microsoft.com/office/drawing/2014/main" id="{5C8F6339-E73D-48BA-B336-2F61C298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2435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提供原系统入口</a:t>
            </a:r>
          </a:p>
        </p:txBody>
      </p:sp>
      <p:sp>
        <p:nvSpPr>
          <p:cNvPr id="17" name="s5-eff">
            <a:extLst xmlns:a="http://schemas.openxmlformats.org/drawingml/2006/main">
              <a:ext uri="{FF2B5EF4-FFF2-40B4-BE49-F238E27FC236}">
                <a16:creationId xmlns:a16="http://schemas.microsoft.com/office/drawing/2014/main" id="{EA4ABED4-5A06-470D-87CA-1EC6DAAC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81600"/>
            <a:ext cx="28575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FFAF2">
              <a:alpha val="86000"/>
            </a:srgbClr>
          </a:solidFill>
          <a:ln xmlns:a="http://schemas.openxmlformats.org/drawingml/2006/main" w="9525">
            <a:solidFill>
              <a:srgbClr val="B6D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5-eff-head">
            <a:extLst xmlns:a="http://schemas.openxmlformats.org/drawingml/2006/main">
              <a:ext uri="{FF2B5EF4-FFF2-40B4-BE49-F238E27FC236}">
                <a16:creationId xmlns:a16="http://schemas.microsoft.com/office/drawing/2014/main" id="{527CE813-E475-4C63-8739-CB455F2E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76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D42"/>
                </a:solidFill>
              </a:defRPr>
            </a:pPr>
            <a:r>
              <a:rPr sz="1350" b="1">
                <a:solidFill>
                  <a:srgbClr val="2F7D42"/>
                </a:solidFill>
              </a:rPr>
              <a:t>结果回到对话</a:t>
            </a:r>
          </a:p>
        </p:txBody>
      </p:sp>
      <p:sp>
        <p:nvSpPr>
          <p:cNvPr id="19" name="s5-eff-copy">
            <a:extLst xmlns:a="http://schemas.openxmlformats.org/drawingml/2006/main">
              <a:ext uri="{FF2B5EF4-FFF2-40B4-BE49-F238E27FC236}">
                <a16:creationId xmlns:a16="http://schemas.microsoft.com/office/drawing/2014/main" id="{3F0E1935-6F33-4296-AA16-AEFE2785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581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提交 · 查询 · 原系统入口</a:t>
            </a:r>
          </a:p>
        </p:txBody>
      </p:sp>
    </p:spTree>
    <p:extLst>
      <p:ext uri="{BB962C8B-B14F-4D97-AF65-F5344CB8AC3E}">
        <p14:creationId xmlns:p14="http://schemas.microsoft.com/office/powerpoint/2010/main" val="15101387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eyebrow-6">
            <a:extLst xmlns:a="http://schemas.openxmlformats.org/drawingml/2006/main">
              <a:ext uri="{FF2B5EF4-FFF2-40B4-BE49-F238E27FC236}">
                <a16:creationId xmlns:a16="http://schemas.microsoft.com/office/drawing/2014/main" id="{89E40FDB-7D53-4C2F-AAA6-E0572183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小络助手 · 业务场景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446E2E0-F4B1-49EB-B9C3-DD0896DC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同一种交互方式，可覆盖更多企业业务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1203E8C2-5FE0-4900-A6A3-C3D5FB83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07</a:t>
            </a:r>
          </a:p>
        </p:txBody>
      </p:sp>
      <p:sp>
        <p:nvSpPr>
          <p:cNvPr id="4" name="s6-lead">
            <a:extLst xmlns:a="http://schemas.openxmlformats.org/drawingml/2006/main">
              <a:ext uri="{FF2B5EF4-FFF2-40B4-BE49-F238E27FC236}">
                <a16:creationId xmlns:a16="http://schemas.microsoft.com/office/drawing/2014/main" id="{2D2D9C3F-FF06-4A3B-A849-8C87F935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员工始终通过对话表达需求，小络助手按现有流程完成信息组织与业务办理。</a:t>
            </a:r>
          </a:p>
        </p:txBody>
      </p:sp>
      <p:sp>
        <p:nvSpPr>
          <p:cNvPr id="5" name="s6-scenes-label">
            <a:extLst xmlns:a="http://schemas.openxmlformats.org/drawingml/2006/main">
              <a:ext uri="{FF2B5EF4-FFF2-40B4-BE49-F238E27FC236}">
                <a16:creationId xmlns:a16="http://schemas.microsoft.com/office/drawing/2014/main" id="{01298F4F-3ABF-489F-856B-2D191A29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常用 OA 场景</a:t>
            </a:r>
          </a:p>
        </p:txBody>
      </p:sp>
      <p:sp>
        <p:nvSpPr>
          <p:cNvPr id="6" name="scene-dot-0">
            <a:extLst xmlns:a="http://schemas.openxmlformats.org/drawingml/2006/main">
              <a:ext uri="{FF2B5EF4-FFF2-40B4-BE49-F238E27FC236}">
                <a16:creationId xmlns:a16="http://schemas.microsoft.com/office/drawing/2014/main" id="{49BC8669-7899-4866-A94F-F7E4A7CF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cene-0">
            <a:extLst xmlns:a="http://schemas.openxmlformats.org/drawingml/2006/main">
              <a:ext uri="{FF2B5EF4-FFF2-40B4-BE49-F238E27FC236}">
                <a16:creationId xmlns:a16="http://schemas.microsoft.com/office/drawing/2014/main" id="{00F13EE8-5E27-4313-8FB6-09FFB6C7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请假｜类型、时段与事由</a:t>
            </a:r>
          </a:p>
        </p:txBody>
      </p:sp>
      <p:sp>
        <p:nvSpPr>
          <p:cNvPr id="8" name="scene-dot-1">
            <a:extLst xmlns:a="http://schemas.openxmlformats.org/drawingml/2006/main">
              <a:ext uri="{FF2B5EF4-FFF2-40B4-BE49-F238E27FC236}">
                <a16:creationId xmlns:a16="http://schemas.microsoft.com/office/drawing/2014/main" id="{75C05A4A-73E5-4C31-A470-A71F71C5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cene-1">
            <a:extLst xmlns:a="http://schemas.openxmlformats.org/drawingml/2006/main">
              <a:ext uri="{FF2B5EF4-FFF2-40B4-BE49-F238E27FC236}">
                <a16:creationId xmlns:a16="http://schemas.microsoft.com/office/drawing/2014/main" id="{C65F6964-9568-498F-824C-A0646971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公章｜用途、材料与用印时间</a:t>
            </a:r>
          </a:p>
        </p:txBody>
      </p:sp>
      <p:sp>
        <p:nvSpPr>
          <p:cNvPr id="10" name="scene-dot-2">
            <a:extLst xmlns:a="http://schemas.openxmlformats.org/drawingml/2006/main">
              <a:ext uri="{FF2B5EF4-FFF2-40B4-BE49-F238E27FC236}">
                <a16:creationId xmlns:a16="http://schemas.microsoft.com/office/drawing/2014/main" id="{DD2CBE0A-777E-46C7-9E72-42F333EA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cene-2">
            <a:extLst xmlns:a="http://schemas.openxmlformats.org/drawingml/2006/main">
              <a:ext uri="{FF2B5EF4-FFF2-40B4-BE49-F238E27FC236}">
                <a16:creationId xmlns:a16="http://schemas.microsoft.com/office/drawing/2014/main" id="{A5A91B6B-9ECD-4788-909F-BD59B1F0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会议室｜时间、地点与人数</a:t>
            </a:r>
          </a:p>
        </p:txBody>
      </p:sp>
      <p:sp>
        <p:nvSpPr>
          <p:cNvPr id="12" name="scene-dot-3">
            <a:extLst xmlns:a="http://schemas.openxmlformats.org/drawingml/2006/main">
              <a:ext uri="{FF2B5EF4-FFF2-40B4-BE49-F238E27FC236}">
                <a16:creationId xmlns:a16="http://schemas.microsoft.com/office/drawing/2014/main" id="{6BE1EA53-E2AE-42E6-B7BB-4777B0FD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90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cene-3">
            <a:extLst xmlns:a="http://schemas.openxmlformats.org/drawingml/2006/main">
              <a:ext uri="{FF2B5EF4-FFF2-40B4-BE49-F238E27FC236}">
                <a16:creationId xmlns:a16="http://schemas.microsoft.com/office/drawing/2014/main" id="{3F7E6C74-B002-4C66-98D8-E9E928E3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车辆｜路线、时间与用车事由</a:t>
            </a:r>
          </a:p>
        </p:txBody>
      </p:sp>
      <p:sp>
        <p:nvSpPr>
          <p:cNvPr id="14" name="scene-dot-4">
            <a:extLst xmlns:a="http://schemas.openxmlformats.org/drawingml/2006/main">
              <a:ext uri="{FF2B5EF4-FFF2-40B4-BE49-F238E27FC236}">
                <a16:creationId xmlns:a16="http://schemas.microsoft.com/office/drawing/2014/main" id="{4009B368-D32B-41B2-A163-8036CDB0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cene-4">
            <a:extLst xmlns:a="http://schemas.openxmlformats.org/drawingml/2006/main">
              <a:ext uri="{FF2B5EF4-FFF2-40B4-BE49-F238E27FC236}">
                <a16:creationId xmlns:a16="http://schemas.microsoft.com/office/drawing/2014/main" id="{38E93E45-B79F-4F66-A4F4-9EE09A5A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报销｜票据、费用类型与金额</a:t>
            </a:r>
          </a:p>
        </p:txBody>
      </p:sp>
      <p:sp>
        <p:nvSpPr>
          <p:cNvPr id="16" name="scene-dot-5">
            <a:extLst xmlns:a="http://schemas.openxmlformats.org/drawingml/2006/main">
              <a:ext uri="{FF2B5EF4-FFF2-40B4-BE49-F238E27FC236}">
                <a16:creationId xmlns:a16="http://schemas.microsoft.com/office/drawing/2014/main" id="{5D928550-BBCD-49FD-BE77-B735BAF8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9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cene-5">
            <a:extLst xmlns:a="http://schemas.openxmlformats.org/drawingml/2006/main">
              <a:ext uri="{FF2B5EF4-FFF2-40B4-BE49-F238E27FC236}">
                <a16:creationId xmlns:a16="http://schemas.microsoft.com/office/drawing/2014/main" id="{96607450-335E-4F7B-9AA8-26156F1A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流程查询｜进度、待办与结果</a:t>
            </a:r>
          </a:p>
        </p:txBody>
      </p:sp>
      <p:sp>
        <p:nvSpPr>
          <p:cNvPr id="18" name="s6-vrule">
            <a:extLst xmlns:a="http://schemas.openxmlformats.org/drawingml/2006/main">
              <a:ext uri="{FF2B5EF4-FFF2-40B4-BE49-F238E27FC236}">
                <a16:creationId xmlns:a16="http://schemas.microsoft.com/office/drawing/2014/main" id="{8F1037C9-3430-443A-B942-BE68D54F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85950"/>
            <a:ext cx="0" cy="3314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6-pilot-label">
            <a:extLst xmlns:a="http://schemas.openxmlformats.org/drawingml/2006/main">
              <a:ext uri="{FF2B5EF4-FFF2-40B4-BE49-F238E27FC236}">
                <a16:creationId xmlns:a16="http://schemas.microsoft.com/office/drawing/2014/main" id="{6E7FE7C5-7725-4CA3-8C8A-40047D19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859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更多部门业务</a:t>
            </a:r>
          </a:p>
        </p:txBody>
      </p:sp>
      <p:sp>
        <p:nvSpPr>
          <p:cNvPr id="22" name="pilot-node-0">
            <a:extLst xmlns:a="http://schemas.openxmlformats.org/drawingml/2006/main">
              <a:ext uri="{FF2B5EF4-FFF2-40B4-BE49-F238E27FC236}">
                <a16:creationId xmlns:a16="http://schemas.microsoft.com/office/drawing/2014/main" id="{6E1141CD-E4CB-408E-BD32-2813EA3E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05050"/>
            <a:ext cx="6096000" cy="723900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pilot-n-0">
            <a:extLst xmlns:a="http://schemas.openxmlformats.org/drawingml/2006/main">
              <a:ext uri="{FF2B5EF4-FFF2-40B4-BE49-F238E27FC236}">
                <a16:creationId xmlns:a16="http://schemas.microsoft.com/office/drawing/2014/main" id="{9362A6FC-4A17-4005-8F46-B736FDA3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33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人力</a:t>
            </a:r>
          </a:p>
        </p:txBody>
      </p:sp>
      <p:sp>
        <p:nvSpPr>
          <p:cNvPr id="24" name="pilot-h-0">
            <a:extLst xmlns:a="http://schemas.openxmlformats.org/drawingml/2006/main">
              <a:ext uri="{FF2B5EF4-FFF2-40B4-BE49-F238E27FC236}">
                <a16:creationId xmlns:a16="http://schemas.microsoft.com/office/drawing/2014/main" id="{FFB2CFCE-E0A1-4E6D-881B-CD6CA156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76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员工全周期</a:t>
            </a:r>
          </a:p>
        </p:txBody>
      </p:sp>
      <p:sp>
        <p:nvSpPr>
          <p:cNvPr id="25" name="pilot-c-0">
            <a:extLst xmlns:a="http://schemas.openxmlformats.org/drawingml/2006/main">
              <a:ext uri="{FF2B5EF4-FFF2-40B4-BE49-F238E27FC236}">
                <a16:creationId xmlns:a16="http://schemas.microsoft.com/office/drawing/2014/main" id="{1CF76813-93C1-44CE-9881-22B8484D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955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入转调离、证明开具、培训报名</a:t>
            </a:r>
          </a:p>
        </p:txBody>
      </p:sp>
      <p:sp>
        <p:nvSpPr>
          <p:cNvPr id="26" name="pilot-node-1">
            <a:extLst xmlns:a="http://schemas.openxmlformats.org/drawingml/2006/main">
              <a:ext uri="{FF2B5EF4-FFF2-40B4-BE49-F238E27FC236}">
                <a16:creationId xmlns:a16="http://schemas.microsoft.com/office/drawing/2014/main" id="{ACFD1104-9648-4E0F-97FE-1947191B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43250"/>
            <a:ext cx="6096000" cy="723900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pilot-n-1">
            <a:extLst xmlns:a="http://schemas.openxmlformats.org/drawingml/2006/main">
              <a:ext uri="{FF2B5EF4-FFF2-40B4-BE49-F238E27FC236}">
                <a16:creationId xmlns:a16="http://schemas.microsoft.com/office/drawing/2014/main" id="{93F5C76E-A844-49E5-BA08-A0C38BE6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71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财务</a:t>
            </a:r>
          </a:p>
        </p:txBody>
      </p:sp>
      <p:sp>
        <p:nvSpPr>
          <p:cNvPr id="28" name="pilot-h-1">
            <a:extLst xmlns:a="http://schemas.openxmlformats.org/drawingml/2006/main">
              <a:ext uri="{FF2B5EF4-FFF2-40B4-BE49-F238E27FC236}">
                <a16:creationId xmlns:a16="http://schemas.microsoft.com/office/drawing/2014/main" id="{55CB7FCA-6DEC-450B-93D2-0D67E10D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14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预算与付款</a:t>
            </a:r>
          </a:p>
        </p:txBody>
      </p:sp>
      <p:sp>
        <p:nvSpPr>
          <p:cNvPr id="29" name="pilot-c-1">
            <a:extLst xmlns:a="http://schemas.openxmlformats.org/drawingml/2006/main">
              <a:ext uri="{FF2B5EF4-FFF2-40B4-BE49-F238E27FC236}">
                <a16:creationId xmlns:a16="http://schemas.microsoft.com/office/drawing/2014/main" id="{A59C854F-DF62-40A0-A8EF-39A01D02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预算申请、费用报销、合同付款</a:t>
            </a:r>
          </a:p>
        </p:txBody>
      </p:sp>
      <p:sp>
        <p:nvSpPr>
          <p:cNvPr id="30" name="pilot-node-2">
            <a:extLst xmlns:a="http://schemas.openxmlformats.org/drawingml/2006/main">
              <a:ext uri="{FF2B5EF4-FFF2-40B4-BE49-F238E27FC236}">
                <a16:creationId xmlns:a16="http://schemas.microsoft.com/office/drawing/2014/main" id="{C8C7808A-A93B-4E85-A355-A145A4FC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81450"/>
            <a:ext cx="6096000" cy="723900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7B36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pilot-n-2">
            <a:extLst xmlns:a="http://schemas.openxmlformats.org/drawingml/2006/main">
              <a:ext uri="{FF2B5EF4-FFF2-40B4-BE49-F238E27FC236}">
                <a16:creationId xmlns:a16="http://schemas.microsoft.com/office/drawing/2014/main" id="{477D47D6-2F37-420A-BE9D-D123E45B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00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7B36A"/>
                </a:solidFill>
              </a:defRPr>
            </a:pPr>
            <a:r>
              <a:rPr sz="1050" b="1">
                <a:solidFill>
                  <a:srgbClr val="57B36A"/>
                </a:solidFill>
              </a:rPr>
              <a:t>采购</a:t>
            </a:r>
          </a:p>
        </p:txBody>
      </p:sp>
      <p:sp>
        <p:nvSpPr>
          <p:cNvPr id="32" name="pilot-h-2">
            <a:extLst xmlns:a="http://schemas.openxmlformats.org/drawingml/2006/main">
              <a:ext uri="{FF2B5EF4-FFF2-40B4-BE49-F238E27FC236}">
                <a16:creationId xmlns:a16="http://schemas.microsoft.com/office/drawing/2014/main" id="{934BFA83-1E13-4E01-A33F-5686ABF8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529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物资与供应商</a:t>
            </a:r>
          </a:p>
        </p:txBody>
      </p:sp>
      <p:sp>
        <p:nvSpPr>
          <p:cNvPr id="33" name="pilot-c-2">
            <a:extLst xmlns:a="http://schemas.openxmlformats.org/drawingml/2006/main">
              <a:ext uri="{FF2B5EF4-FFF2-40B4-BE49-F238E27FC236}">
                <a16:creationId xmlns:a16="http://schemas.microsoft.com/office/drawing/2014/main" id="{320F44FD-546E-45EF-95A1-A12D3E34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719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采购申请、供应商准入、审批查询</a:t>
            </a:r>
          </a:p>
        </p:txBody>
      </p:sp>
      <p:sp>
        <p:nvSpPr>
          <p:cNvPr id="34" name="s6-metrics-title">
            <a:extLst xmlns:a="http://schemas.openxmlformats.org/drawingml/2006/main">
              <a:ext uri="{FF2B5EF4-FFF2-40B4-BE49-F238E27FC236}">
                <a16:creationId xmlns:a16="http://schemas.microsoft.com/office/drawing/2014/main" id="{70222979-BFAE-493E-B4ED-C68AB504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95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可连接企业系统</a:t>
            </a:r>
          </a:p>
        </p:txBody>
      </p:sp>
      <p:sp>
        <p:nvSpPr>
          <p:cNvPr id="35" name="metric-rule-0">
            <a:extLst xmlns:a="http://schemas.openxmlformats.org/drawingml/2006/main">
              <a:ext uri="{FF2B5EF4-FFF2-40B4-BE49-F238E27FC236}">
                <a16:creationId xmlns:a16="http://schemas.microsoft.com/office/drawing/2014/main" id="{D8EF1D64-5911-4921-908A-AFDFD277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816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metric-0">
            <a:extLst xmlns:a="http://schemas.openxmlformats.org/drawingml/2006/main">
              <a:ext uri="{FF2B5EF4-FFF2-40B4-BE49-F238E27FC236}">
                <a16:creationId xmlns:a16="http://schemas.microsoft.com/office/drawing/2014/main" id="{3864EC29-25CF-4ECB-A67B-06489F4C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2578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ERP｜订单、库存与采购</a:t>
            </a:r>
          </a:p>
        </p:txBody>
      </p:sp>
      <p:sp>
        <p:nvSpPr>
          <p:cNvPr id="37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3628463D-1E41-49D2-A7BC-1B6342B2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5816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metric-1">
            <a:extLst xmlns:a="http://schemas.openxmlformats.org/drawingml/2006/main">
              <a:ext uri="{FF2B5EF4-FFF2-40B4-BE49-F238E27FC236}">
                <a16:creationId xmlns:a16="http://schemas.microsoft.com/office/drawing/2014/main" id="{B37079E3-A756-44BB-ADC3-EC85D999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578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CRM｜客户、商机与跟进</a:t>
            </a:r>
          </a:p>
        </p:txBody>
      </p:sp>
      <p:sp>
        <p:nvSpPr>
          <p:cNvPr id="39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C2F83B26-28D5-421D-ACC9-CF275E45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0388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metric-2">
            <a:extLst xmlns:a="http://schemas.openxmlformats.org/drawingml/2006/main">
              <a:ext uri="{FF2B5EF4-FFF2-40B4-BE49-F238E27FC236}">
                <a16:creationId xmlns:a16="http://schemas.microsoft.com/office/drawing/2014/main" id="{BAD0B7D7-1568-4834-B0AD-F76F36AA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7150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工单｜设备、账号与故障</a:t>
            </a:r>
          </a:p>
        </p:txBody>
      </p:sp>
      <p:sp>
        <p:nvSpPr>
          <p:cNvPr id="41" name="metric-rule-3">
            <a:extLst xmlns:a="http://schemas.openxmlformats.org/drawingml/2006/main">
              <a:ext uri="{FF2B5EF4-FFF2-40B4-BE49-F238E27FC236}">
                <a16:creationId xmlns:a16="http://schemas.microsoft.com/office/drawing/2014/main" id="{BC4EBCA7-5962-4DC4-9833-2B9E84D9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0388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metric-3">
            <a:extLst xmlns:a="http://schemas.openxmlformats.org/drawingml/2006/main">
              <a:ext uri="{FF2B5EF4-FFF2-40B4-BE49-F238E27FC236}">
                <a16:creationId xmlns:a16="http://schemas.microsoft.com/office/drawing/2014/main" id="{9EC383C9-1C9D-4A75-B2ED-361C81B9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7150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项目｜任务、进度与交付</a:t>
            </a:r>
          </a:p>
        </p:txBody>
      </p:sp>
    </p:spTree>
    <p:extLst>
      <p:ext uri="{BB962C8B-B14F-4D97-AF65-F5344CB8AC3E}">
        <p14:creationId xmlns:p14="http://schemas.microsoft.com/office/powerpoint/2010/main" val="10474982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-3">
            <a:extLst xmlns:a="http://schemas.openxmlformats.org/drawingml/2006/main">
              <a:ext uri="{FF2B5EF4-FFF2-40B4-BE49-F238E27FC236}">
                <a16:creationId xmlns:a16="http://schemas.microsoft.com/office/drawing/2014/main" id="{6B34DFDF-083F-475F-93E2-ED60365B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小络助手 · 业务配置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902BC3F0-2560-4991-A436-2587E73E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管理员配置业务，员工即可通过对话办理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6A29D405-35EB-4025-961B-6FAC70CF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08</a:t>
            </a:r>
          </a:p>
        </p:txBody>
      </p:sp>
      <p:sp>
        <p:nvSpPr>
          <p:cNvPr id="4" name="s3-lead">
            <a:extLst xmlns:a="http://schemas.openxmlformats.org/drawingml/2006/main">
              <a:ext uri="{FF2B5EF4-FFF2-40B4-BE49-F238E27FC236}">
                <a16:creationId xmlns:a16="http://schemas.microsoft.com/office/drawing/2014/main" id="{35DCD279-6D1D-446C-98DF-771933A0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管理员配置字段、规则和系统接口，形成可复用能力；员工只需说明需求。</a:t>
            </a:r>
          </a:p>
        </p:txBody>
      </p:sp>
      <p:sp>
        <p:nvSpPr>
          <p:cNvPr id="5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76449A83-E331-4A4D-B844-2ACC33BE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28900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5CB6813F-ED6B-45B7-BBA9-93109014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28900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AC3F2C80-B661-4A89-99E8-B859DD9C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28900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D107ED79-48F0-42A3-8512-DCFEF9BB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28900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6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flow-node-0">
            <a:extLst xmlns:a="http://schemas.openxmlformats.org/drawingml/2006/main">
              <a:ext uri="{FF2B5EF4-FFF2-40B4-BE49-F238E27FC236}">
                <a16:creationId xmlns:a16="http://schemas.microsoft.com/office/drawing/2014/main" id="{C8BABA27-86FD-4739-ADBE-E3633085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6764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2563EB">
              <a:alpha val="14000"/>
            </a:srgbClr>
          </a:solidFill>
          <a:ln xmlns:a="http://schemas.openxmlformats.org/drawingml/2006/main" w="9525">
            <a:solidFill>
              <a:srgbClr val="BFD1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F22512D7-05A5-444F-A2D6-1306A35C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配置表单</a:t>
            </a:r>
          </a:p>
        </p:txBody>
      </p:sp>
      <p:sp>
        <p:nvSpPr>
          <p:cNvPr id="11" name="flow-copy-0">
            <a:extLst xmlns:a="http://schemas.openxmlformats.org/drawingml/2006/main">
              <a:ext uri="{FF2B5EF4-FFF2-40B4-BE49-F238E27FC236}">
                <a16:creationId xmlns:a16="http://schemas.microsoft.com/office/drawing/2014/main" id="{01F8ABCE-04D9-4457-9F2B-E375D5D1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定义字段与必填项</a:t>
            </a:r>
          </a:p>
        </p:txBody>
      </p:sp>
      <p:sp>
        <p:nvSpPr>
          <p:cNvPr id="12" name="flow-node-1">
            <a:extLst xmlns:a="http://schemas.openxmlformats.org/drawingml/2006/main">
              <a:ext uri="{FF2B5EF4-FFF2-40B4-BE49-F238E27FC236}">
                <a16:creationId xmlns:a16="http://schemas.microsoft.com/office/drawing/2014/main" id="{68C96FE4-0943-4820-8A7F-CEDF73A1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14550"/>
            <a:ext cx="16764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2563EB">
              <a:alpha val="14000"/>
            </a:srgbClr>
          </a:solidFill>
          <a:ln xmlns:a="http://schemas.openxmlformats.org/drawingml/2006/main" w="9525">
            <a:solidFill>
              <a:srgbClr val="BFD1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76537136-2DB9-4E4D-B528-040AF918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81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配置规则</a:t>
            </a:r>
          </a:p>
        </p:txBody>
      </p:sp>
      <p:sp>
        <p:nvSpPr>
          <p:cNvPr id="14" name="flow-copy-1">
            <a:extLst xmlns:a="http://schemas.openxmlformats.org/drawingml/2006/main">
              <a:ext uri="{FF2B5EF4-FFF2-40B4-BE49-F238E27FC236}">
                <a16:creationId xmlns:a16="http://schemas.microsoft.com/office/drawing/2014/main" id="{CDA1B945-EFD4-430F-A236-F2761503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575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设置校验规则</a:t>
            </a:r>
          </a:p>
        </p:txBody>
      </p:sp>
      <p:sp>
        <p:nvSpPr>
          <p:cNvPr id="15" name="flow-node-2">
            <a:extLst xmlns:a="http://schemas.openxmlformats.org/drawingml/2006/main">
              <a:ext uri="{FF2B5EF4-FFF2-40B4-BE49-F238E27FC236}">
                <a16:creationId xmlns:a16="http://schemas.microsoft.com/office/drawing/2014/main" id="{71B6945B-E573-42ED-94DB-7896F8BB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14550"/>
            <a:ext cx="16764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7C3AED">
              <a:alpha val="14000"/>
            </a:srgbClr>
          </a:solidFill>
          <a:ln xmlns:a="http://schemas.openxmlformats.org/drawingml/2006/main" w="9525">
            <a:solidFill>
              <a:srgbClr val="D7C7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F61DBE75-FA17-4EA4-9DF3-E1EDC60C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接入系统</a:t>
            </a:r>
          </a:p>
        </p:txBody>
      </p:sp>
      <p:sp>
        <p:nvSpPr>
          <p:cNvPr id="17" name="flow-copy-2">
            <a:extLst xmlns:a="http://schemas.openxmlformats.org/drawingml/2006/main">
              <a:ext uri="{FF2B5EF4-FFF2-40B4-BE49-F238E27FC236}">
                <a16:creationId xmlns:a16="http://schemas.microsoft.com/office/drawing/2014/main" id="{7CA5B4D3-85D7-4609-B3CA-44DAF160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575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绑定接口与权限</a:t>
            </a:r>
          </a:p>
        </p:txBody>
      </p:sp>
      <p:sp>
        <p:nvSpPr>
          <p:cNvPr id="18" name="flow-node-3">
            <a:extLst xmlns:a="http://schemas.openxmlformats.org/drawingml/2006/main">
              <a:ext uri="{FF2B5EF4-FFF2-40B4-BE49-F238E27FC236}">
                <a16:creationId xmlns:a16="http://schemas.microsoft.com/office/drawing/2014/main" id="{5CCE2F25-EC7C-4D37-BFE9-0F63D77F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14550"/>
            <a:ext cx="16764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57B36A">
              <a:alpha val="16000"/>
            </a:srgbClr>
          </a:solidFill>
          <a:ln xmlns:a="http://schemas.openxmlformats.org/drawingml/2006/main" w="9525">
            <a:solidFill>
              <a:srgbClr val="B9DE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D555A78F-FA2E-49CC-8170-3DBF90D5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81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2B36B"/>
                </a:solidFill>
              </a:defRPr>
            </a:pPr>
            <a:r>
              <a:rPr sz="1650" b="1">
                <a:solidFill>
                  <a:srgbClr val="62B36B"/>
                </a:solidFill>
              </a:rPr>
              <a:t>发布能力</a:t>
            </a:r>
          </a:p>
        </p:txBody>
      </p:sp>
      <p:sp>
        <p:nvSpPr>
          <p:cNvPr id="20" name="flow-copy-3">
            <a:extLst xmlns:a="http://schemas.openxmlformats.org/drawingml/2006/main">
              <a:ext uri="{FF2B5EF4-FFF2-40B4-BE49-F238E27FC236}">
                <a16:creationId xmlns:a16="http://schemas.microsoft.com/office/drawing/2014/main" id="{FF08EBB2-A4B4-461E-9A60-A9BD9518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575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提供给员工使用</a:t>
            </a:r>
          </a:p>
        </p:txBody>
      </p:sp>
      <p:sp>
        <p:nvSpPr>
          <p:cNvPr id="21" name="flow-node-4">
            <a:extLst xmlns:a="http://schemas.openxmlformats.org/drawingml/2006/main">
              <a:ext uri="{FF2B5EF4-FFF2-40B4-BE49-F238E27FC236}">
                <a16:creationId xmlns:a16="http://schemas.microsoft.com/office/drawing/2014/main" id="{4C37C9BD-4B76-4595-858D-14633B2C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14550"/>
            <a:ext cx="1676400" cy="1219200"/>
          </a:xfrm>
          <a:prstGeom xmlns:a="http://schemas.openxmlformats.org/drawingml/2006/main" prst="roundRect">
            <a:avLst>
              <a:gd name="adj" fmla="val 1406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25A92264-EF95-4210-9C49-CCFCD857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81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对话办理</a:t>
            </a:r>
          </a:p>
        </p:txBody>
      </p:sp>
      <p:sp>
        <p:nvSpPr>
          <p:cNvPr id="23" name="flow-copy-4">
            <a:extLst xmlns:a="http://schemas.openxmlformats.org/drawingml/2006/main">
              <a:ext uri="{FF2B5EF4-FFF2-40B4-BE49-F238E27FC236}">
                <a16:creationId xmlns:a16="http://schemas.microsoft.com/office/drawing/2014/main" id="{A25CFF89-BA4E-47B8-821D-B1A79FC0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575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员工直接说需求</a:t>
            </a:r>
          </a:p>
        </p:txBody>
      </p:sp>
      <p:sp>
        <p:nvSpPr>
          <p:cNvPr id="24" name="s3-separator">
            <a:extLst xmlns:a="http://schemas.openxmlformats.org/drawingml/2006/main">
              <a:ext uri="{FF2B5EF4-FFF2-40B4-BE49-F238E27FC236}">
                <a16:creationId xmlns:a16="http://schemas.microsoft.com/office/drawing/2014/main" id="{8CEC2E6A-2B86-43DF-BD21-C7809056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3-boundary-title">
            <a:extLst xmlns:a="http://schemas.openxmlformats.org/drawingml/2006/main">
              <a:ext uri="{FF2B5EF4-FFF2-40B4-BE49-F238E27FC236}">
                <a16:creationId xmlns:a16="http://schemas.microsoft.com/office/drawing/2014/main" id="{500601E1-8B8E-4798-840C-0C94E6D2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配置与使用</a:t>
            </a:r>
          </a:p>
        </p:txBody>
      </p:sp>
      <p:sp>
        <p:nvSpPr>
          <p:cNvPr id="26" name="boundary-dot-0">
            <a:extLst xmlns:a="http://schemas.openxmlformats.org/drawingml/2006/main">
              <a:ext uri="{FF2B5EF4-FFF2-40B4-BE49-F238E27FC236}">
                <a16:creationId xmlns:a16="http://schemas.microsoft.com/office/drawing/2014/main" id="{35C442FC-F4D5-4ADE-B0AE-FCACFFA4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boundary-head-0">
            <a:extLst xmlns:a="http://schemas.openxmlformats.org/drawingml/2006/main">
              <a:ext uri="{FF2B5EF4-FFF2-40B4-BE49-F238E27FC236}">
                <a16:creationId xmlns:a16="http://schemas.microsoft.com/office/drawing/2014/main" id="{F5A955A1-DA89-4DB1-85A3-77C374ED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管理员维护</a:t>
            </a:r>
          </a:p>
        </p:txBody>
      </p:sp>
      <p:sp>
        <p:nvSpPr>
          <p:cNvPr id="28" name="boundary-copy-0">
            <a:extLst xmlns:a="http://schemas.openxmlformats.org/drawingml/2006/main">
              <a:ext uri="{FF2B5EF4-FFF2-40B4-BE49-F238E27FC236}">
                <a16:creationId xmlns:a16="http://schemas.microsoft.com/office/drawing/2014/main" id="{46A0E26F-5492-4A5B-B326-5339B5EC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387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业务规则随流程变化更新</a:t>
            </a:r>
          </a:p>
        </p:txBody>
      </p:sp>
      <p:sp>
        <p:nvSpPr>
          <p:cNvPr id="29" name="boundary-dot-1">
            <a:extLst xmlns:a="http://schemas.openxmlformats.org/drawingml/2006/main">
              <a:ext uri="{FF2B5EF4-FFF2-40B4-BE49-F238E27FC236}">
                <a16:creationId xmlns:a16="http://schemas.microsoft.com/office/drawing/2014/main" id="{976B3272-2760-47DC-ACE8-812E466F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72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B36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boundary-head-1">
            <a:extLst xmlns:a="http://schemas.openxmlformats.org/drawingml/2006/main">
              <a:ext uri="{FF2B5EF4-FFF2-40B4-BE49-F238E27FC236}">
                <a16:creationId xmlns:a16="http://schemas.microsoft.com/office/drawing/2014/main" id="{1C963EE6-95AA-412A-80F2-7737E657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员工易上手</a:t>
            </a:r>
          </a:p>
        </p:txBody>
      </p:sp>
      <p:sp>
        <p:nvSpPr>
          <p:cNvPr id="31" name="boundary-copy-1">
            <a:extLst xmlns:a="http://schemas.openxmlformats.org/drawingml/2006/main">
              <a:ext uri="{FF2B5EF4-FFF2-40B4-BE49-F238E27FC236}">
                <a16:creationId xmlns:a16="http://schemas.microsoft.com/office/drawing/2014/main" id="{8E23D599-0010-44C3-A8BF-74524516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387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无需学习页面与字段</a:t>
            </a:r>
          </a:p>
        </p:txBody>
      </p:sp>
      <p:sp>
        <p:nvSpPr>
          <p:cNvPr id="32" name="boundary-dot-2">
            <a:extLst xmlns:a="http://schemas.openxmlformats.org/drawingml/2006/main">
              <a:ext uri="{FF2B5EF4-FFF2-40B4-BE49-F238E27FC236}">
                <a16:creationId xmlns:a16="http://schemas.microsoft.com/office/drawing/2014/main" id="{CC7B3BFD-A97F-432F-8A84-1B91A283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72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boundary-head-2">
            <a:extLst xmlns:a="http://schemas.openxmlformats.org/drawingml/2006/main">
              <a:ext uri="{FF2B5EF4-FFF2-40B4-BE49-F238E27FC236}">
                <a16:creationId xmlns:a16="http://schemas.microsoft.com/office/drawing/2014/main" id="{1C1519FF-E098-47BD-9A37-930DD1DD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76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能力可复用</a:t>
            </a:r>
          </a:p>
        </p:txBody>
      </p:sp>
      <p:sp>
        <p:nvSpPr>
          <p:cNvPr id="34" name="boundary-copy-2">
            <a:extLst xmlns:a="http://schemas.openxmlformats.org/drawingml/2006/main">
              <a:ext uri="{FF2B5EF4-FFF2-40B4-BE49-F238E27FC236}">
                <a16:creationId xmlns:a16="http://schemas.microsoft.com/office/drawing/2014/main" id="{98E3FE1C-099C-4BA8-AD29-C925BACD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387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同类事项持续稳定办理</a:t>
            </a:r>
          </a:p>
        </p:txBody>
      </p:sp>
    </p:spTree>
    <p:extLst>
      <p:ext uri="{BB962C8B-B14F-4D97-AF65-F5344CB8AC3E}">
        <p14:creationId xmlns:p14="http://schemas.microsoft.com/office/powerpoint/2010/main" val="11029111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-3">
            <a:extLst xmlns:a="http://schemas.openxmlformats.org/drawingml/2006/main">
              <a:ext uri="{FF2B5EF4-FFF2-40B4-BE49-F238E27FC236}">
                <a16:creationId xmlns:a16="http://schemas.microsoft.com/office/drawing/2014/main" id="{F196789A-2FA9-49F5-BB06-41F01193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小络助手 · 无侵入接入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818C7B2B-84B6-4FAD-AE80-F42EC831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现有系统保持不变，老旧系统也能快速接入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FB3A20DB-06F4-4276-B449-16F7F4FA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09</a:t>
            </a:r>
          </a:p>
        </p:txBody>
      </p:sp>
      <p:sp>
        <p:nvSpPr>
          <p:cNvPr id="4" name="s3-lead">
            <a:extLst xmlns:a="http://schemas.openxmlformats.org/drawingml/2006/main">
              <a:ext uri="{FF2B5EF4-FFF2-40B4-BE49-F238E27FC236}">
                <a16:creationId xmlns:a16="http://schemas.microsoft.com/office/drawing/2014/main" id="{C3D595A0-529B-4680-9C0D-5F88C06A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默认通过独立工作台连接 OA、HR、ERP 等系统，不替换原页面、不迁移数据、不重建流程。</a:t>
            </a:r>
          </a:p>
        </p:txBody>
      </p:sp>
      <p:sp>
        <p:nvSpPr>
          <p:cNvPr id="5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02F43CD5-70E8-44B5-9590-0E96B468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9525" cy="9525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8CC3DBEC-7058-471B-83B2-008A8EA0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9525" cy="9525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FEC7F4D6-5F54-45A9-8F3E-BAFFF44C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9525" cy="9525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E24A8EEA-57A8-4655-8EBD-A470FE44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9525" cy="9525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flow-node-0">
            <a:extLst xmlns:a="http://schemas.openxmlformats.org/drawingml/2006/main">
              <a:ext uri="{FF2B5EF4-FFF2-40B4-BE49-F238E27FC236}">
                <a16:creationId xmlns:a16="http://schemas.microsoft.com/office/drawing/2014/main" id="{3A12A7AA-986E-4BC9-AB8F-C638DFEB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953000" cy="2857500"/>
          </a:xfrm>
          <a:prstGeom xmlns:a="http://schemas.openxmlformats.org/drawingml/2006/main" prst="roundRect">
            <a:avLst>
              <a:gd name="adj" fmla="val 6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9DB8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F14305DD-0D88-4BD1-8350-2F958FB9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4ED8"/>
                </a:solidFill>
              </a:defRPr>
            </a:pPr>
            <a:r>
              <a:rPr sz="1650" b="1">
                <a:solidFill>
                  <a:srgbClr val="1D4ED8"/>
                </a:solidFill>
              </a:rPr>
              <a:t>不替换现有系统</a:t>
            </a:r>
          </a:p>
        </p:txBody>
      </p:sp>
      <p:sp>
        <p:nvSpPr>
          <p:cNvPr id="11" name="flow-copy-0">
            <a:extLst xmlns:a="http://schemas.openxmlformats.org/drawingml/2006/main">
              <a:ext uri="{FF2B5EF4-FFF2-40B4-BE49-F238E27FC236}">
                <a16:creationId xmlns:a16="http://schemas.microsoft.com/office/drawing/2014/main" id="{A188717E-AC23-4A1D-9DDD-BD883E7B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原系统继续运行，员工仍可按原方式使用</a:t>
            </a:r>
          </a:p>
        </p:txBody>
      </p:sp>
      <p:sp>
        <p:nvSpPr>
          <p:cNvPr id="12" name="flow-node-1">
            <a:extLst xmlns:a="http://schemas.openxmlformats.org/drawingml/2006/main">
              <a:ext uri="{FF2B5EF4-FFF2-40B4-BE49-F238E27FC236}">
                <a16:creationId xmlns:a16="http://schemas.microsoft.com/office/drawing/2014/main" id="{9B1EA13F-AFBB-4606-98AD-9088BB4A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9525" cy="9525"/>
          </a:xfrm>
          <a:prstGeom xmlns:a="http://schemas.openxmlformats.org/drawingml/2006/main" prst="roundRect">
            <a:avLst>
              <a:gd name="adj" fmla="val 1562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83B6AD85-9174-4B4A-ACEB-97C122EB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4ED8"/>
                </a:solidFill>
              </a:defRPr>
            </a:pPr>
            <a:r>
              <a:rPr sz="1650" b="1">
                <a:solidFill>
                  <a:srgbClr val="1D4ED8"/>
                </a:solidFill>
              </a:rPr>
              <a:t>不迁移业务数据</a:t>
            </a:r>
          </a:p>
        </p:txBody>
      </p:sp>
      <p:sp>
        <p:nvSpPr>
          <p:cNvPr id="14" name="flow-copy-1">
            <a:extLst xmlns:a="http://schemas.openxmlformats.org/drawingml/2006/main">
              <a:ext uri="{FF2B5EF4-FFF2-40B4-BE49-F238E27FC236}">
                <a16:creationId xmlns:a16="http://schemas.microsoft.com/office/drawing/2014/main" id="{CB9384CC-0513-43CC-91C7-EF373077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业务数据和单据继续留在原系统</a:t>
            </a:r>
          </a:p>
        </p:txBody>
      </p:sp>
      <p:sp>
        <p:nvSpPr>
          <p:cNvPr id="15" name="flow-node-2">
            <a:extLst xmlns:a="http://schemas.openxmlformats.org/drawingml/2006/main">
              <a:ext uri="{FF2B5EF4-FFF2-40B4-BE49-F238E27FC236}">
                <a16:creationId xmlns:a16="http://schemas.microsoft.com/office/drawing/2014/main" id="{3DBFAE38-FF93-49EE-BF35-159F8107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9525" cy="9525"/>
          </a:xfrm>
          <a:prstGeom xmlns:a="http://schemas.openxmlformats.org/drawingml/2006/main" prst="roundRect">
            <a:avLst>
              <a:gd name="adj" fmla="val 1562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1D517F8C-45E9-4E85-8C6D-6CB43B88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4ED8"/>
                </a:solidFill>
              </a:defRPr>
            </a:pPr>
            <a:r>
              <a:rPr sz="1650" b="1">
                <a:solidFill>
                  <a:srgbClr val="1D4ED8"/>
                </a:solidFill>
              </a:rPr>
              <a:t>不重建权限流程</a:t>
            </a:r>
          </a:p>
        </p:txBody>
      </p:sp>
      <p:sp>
        <p:nvSpPr>
          <p:cNvPr id="17" name="flow-copy-2">
            <a:extLst xmlns:a="http://schemas.openxmlformats.org/drawingml/2006/main">
              <a:ext uri="{FF2B5EF4-FFF2-40B4-BE49-F238E27FC236}">
                <a16:creationId xmlns:a16="http://schemas.microsoft.com/office/drawing/2014/main" id="{ED61CBA3-A66B-450C-A687-8A2A0475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沿用账号、权限、校验和审批规则</a:t>
            </a:r>
          </a:p>
        </p:txBody>
      </p:sp>
      <p:sp>
        <p:nvSpPr>
          <p:cNvPr id="18" name="flow-node-3">
            <a:extLst xmlns:a="http://schemas.openxmlformats.org/drawingml/2006/main">
              <a:ext uri="{FF2B5EF4-FFF2-40B4-BE49-F238E27FC236}">
                <a16:creationId xmlns:a16="http://schemas.microsoft.com/office/drawing/2014/main" id="{8E9DCCFC-B35D-4D4D-B1BF-4D0B54C3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9525" cy="9525"/>
          </a:xfrm>
          <a:prstGeom xmlns:a="http://schemas.openxmlformats.org/drawingml/2006/main" prst="roundRect">
            <a:avLst>
              <a:gd name="adj" fmla="val 1562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8C7A9119-75F0-4FAB-A2FC-39C2FE2B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7D42"/>
                </a:solidFill>
              </a:defRPr>
            </a:pPr>
            <a:r>
              <a:rPr sz="1800" b="1">
                <a:solidFill>
                  <a:srgbClr val="2F7D42"/>
                </a:solidFill>
              </a:rPr>
              <a:t>有标准接口</a:t>
            </a:r>
          </a:p>
        </p:txBody>
      </p:sp>
      <p:sp>
        <p:nvSpPr>
          <p:cNvPr id="20" name="flow-copy-3">
            <a:extLst xmlns:a="http://schemas.openxmlformats.org/drawingml/2006/main">
              <a:ext uri="{FF2B5EF4-FFF2-40B4-BE49-F238E27FC236}">
                <a16:creationId xmlns:a16="http://schemas.microsoft.com/office/drawing/2014/main" id="{C87F14F8-1413-4A13-B237-D0B044EB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146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API、MCP 与企业连接器快速配置</a:t>
            </a:r>
          </a:p>
        </p:txBody>
      </p:sp>
      <p:sp>
        <p:nvSpPr>
          <p:cNvPr id="21" name="flow-node-4">
            <a:extLst xmlns:a="http://schemas.openxmlformats.org/drawingml/2006/main">
              <a:ext uri="{FF2B5EF4-FFF2-40B4-BE49-F238E27FC236}">
                <a16:creationId xmlns:a16="http://schemas.microsoft.com/office/drawing/2014/main" id="{8150425D-0758-462C-B23B-D064FBDA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95500"/>
            <a:ext cx="5143500" cy="2857500"/>
          </a:xfrm>
          <a:prstGeom xmlns:a="http://schemas.openxmlformats.org/drawingml/2006/main" prst="roundRect">
            <a:avLst>
              <a:gd name="adj" fmla="val 6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8BCB9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65EB38FC-0FDC-408D-BF5C-C73345A8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38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7D42"/>
                </a:solidFill>
              </a:defRPr>
            </a:pPr>
            <a:r>
              <a:rPr sz="1800" b="1">
                <a:solidFill>
                  <a:srgbClr val="2F7D42"/>
                </a:solidFill>
              </a:rPr>
              <a:t>无标准接口</a:t>
            </a:r>
          </a:p>
        </p:txBody>
      </p:sp>
      <p:sp>
        <p:nvSpPr>
          <p:cNvPr id="23" name="flow-copy-4">
            <a:extLst xmlns:a="http://schemas.openxmlformats.org/drawingml/2006/main">
              <a:ext uri="{FF2B5EF4-FFF2-40B4-BE49-F238E27FC236}">
                <a16:creationId xmlns:a16="http://schemas.microsoft.com/office/drawing/2014/main" id="{34981E68-2AEA-412B-99A2-C337D4C6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页面探测与 Browser Skill 适配老旧系统</a:t>
            </a:r>
          </a:p>
        </p:txBody>
      </p:sp>
      <p:sp>
        <p:nvSpPr>
          <p:cNvPr id="24" name="s3-separator">
            <a:extLst xmlns:a="http://schemas.openxmlformats.org/drawingml/2006/main">
              <a:ext uri="{FF2B5EF4-FFF2-40B4-BE49-F238E27FC236}">
                <a16:creationId xmlns:a16="http://schemas.microsoft.com/office/drawing/2014/main" id="{568EAED7-8543-4056-A513-68AF65DA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3-boundary-title">
            <a:extLst xmlns:a="http://schemas.openxmlformats.org/drawingml/2006/main">
              <a:ext uri="{FF2B5EF4-FFF2-40B4-BE49-F238E27FC236}">
                <a16:creationId xmlns:a16="http://schemas.microsoft.com/office/drawing/2014/main" id="{5AE96890-C42E-4774-A636-2206F911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交付价值</a:t>
            </a:r>
          </a:p>
        </p:txBody>
      </p:sp>
      <p:sp>
        <p:nvSpPr>
          <p:cNvPr id="26" name="boundary-dot-0">
            <a:extLst xmlns:a="http://schemas.openxmlformats.org/drawingml/2006/main">
              <a:ext uri="{FF2B5EF4-FFF2-40B4-BE49-F238E27FC236}">
                <a16:creationId xmlns:a16="http://schemas.microsoft.com/office/drawing/2014/main" id="{7A7377BB-A1C1-4C85-8215-2BC6FB17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05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boundary-head-0">
            <a:extLst xmlns:a="http://schemas.openxmlformats.org/drawingml/2006/main">
              <a:ext uri="{FF2B5EF4-FFF2-40B4-BE49-F238E27FC236}">
                <a16:creationId xmlns:a16="http://schemas.microsoft.com/office/drawing/2014/main" id="{C0A4BD18-23BB-409C-A516-BA6AABFD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810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无侵入接入</a:t>
            </a:r>
          </a:p>
        </p:txBody>
      </p:sp>
      <p:sp>
        <p:nvSpPr>
          <p:cNvPr id="28" name="boundary-copy-0">
            <a:extLst xmlns:a="http://schemas.openxmlformats.org/drawingml/2006/main">
              <a:ext uri="{FF2B5EF4-FFF2-40B4-BE49-F238E27FC236}">
                <a16:creationId xmlns:a16="http://schemas.microsoft.com/office/drawing/2014/main" id="{1C9E867F-0A25-4011-941C-AE341B80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1341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不替换、不迁移、不重建</a:t>
            </a:r>
          </a:p>
        </p:txBody>
      </p:sp>
      <p:sp>
        <p:nvSpPr>
          <p:cNvPr id="29" name="boundary-dot-1">
            <a:extLst xmlns:a="http://schemas.openxmlformats.org/drawingml/2006/main">
              <a:ext uri="{FF2B5EF4-FFF2-40B4-BE49-F238E27FC236}">
                <a16:creationId xmlns:a16="http://schemas.microsoft.com/office/drawing/2014/main" id="{11CB53B4-6491-4F49-A3D9-00784F99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05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B36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boundary-head-1">
            <a:extLst xmlns:a="http://schemas.openxmlformats.org/drawingml/2006/main">
              <a:ext uri="{FF2B5EF4-FFF2-40B4-BE49-F238E27FC236}">
                <a16:creationId xmlns:a16="http://schemas.microsoft.com/office/drawing/2014/main" id="{DAF2AF84-81CE-4F48-ABE6-8131C68F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810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兼容老旧系统</a:t>
            </a:r>
          </a:p>
        </p:txBody>
      </p:sp>
      <p:sp>
        <p:nvSpPr>
          <p:cNvPr id="31" name="boundary-copy-1">
            <a:extLst xmlns:a="http://schemas.openxmlformats.org/drawingml/2006/main">
              <a:ext uri="{FF2B5EF4-FFF2-40B4-BE49-F238E27FC236}">
                <a16:creationId xmlns:a16="http://schemas.microsoft.com/office/drawing/2014/main" id="{8EE5FAF9-74FB-4E3E-AE1D-D66B225B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1341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接口优先，页面能力兜底</a:t>
            </a:r>
          </a:p>
        </p:txBody>
      </p:sp>
      <p:sp>
        <p:nvSpPr>
          <p:cNvPr id="32" name="boundary-dot-2">
            <a:extLst xmlns:a="http://schemas.openxmlformats.org/drawingml/2006/main">
              <a:ext uri="{FF2B5EF4-FFF2-40B4-BE49-F238E27FC236}">
                <a16:creationId xmlns:a16="http://schemas.microsoft.com/office/drawing/2014/main" id="{527989AC-0182-445B-91F2-29E64ED0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905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boundary-head-2">
            <a:extLst xmlns:a="http://schemas.openxmlformats.org/drawingml/2006/main">
              <a:ext uri="{FF2B5EF4-FFF2-40B4-BE49-F238E27FC236}">
                <a16:creationId xmlns:a16="http://schemas.microsoft.com/office/drawing/2014/main" id="{BA7DDF8E-BEC0-4463-8DBE-1F8E6748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810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快速交付</a:t>
            </a:r>
          </a:p>
        </p:txBody>
      </p:sp>
      <p:sp>
        <p:nvSpPr>
          <p:cNvPr id="34" name="boundary-copy-2">
            <a:extLst xmlns:a="http://schemas.openxmlformats.org/drawingml/2006/main">
              <a:ext uri="{FF2B5EF4-FFF2-40B4-BE49-F238E27FC236}">
                <a16:creationId xmlns:a16="http://schemas.microsoft.com/office/drawing/2014/main" id="{A7721EA0-C21A-49CE-BE99-EAB57D9C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1341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低配置、可验证、可发布</a:t>
            </a:r>
          </a:p>
        </p:txBody>
      </p:sp>
    </p:spTree>
    <p:extLst>
      <p:ext uri="{BB962C8B-B14F-4D97-AF65-F5344CB8AC3E}">
        <p14:creationId xmlns:p14="http://schemas.microsoft.com/office/powerpoint/2010/main" val="12043035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eyebrow-2">
            <a:extLst xmlns:a="http://schemas.openxmlformats.org/drawingml/2006/main">
              <a:ext uri="{FF2B5EF4-FFF2-40B4-BE49-F238E27FC236}">
                <a16:creationId xmlns:a16="http://schemas.microsoft.com/office/drawing/2014/main" id="{54EC326B-FAB8-403F-A540-5BA0E477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小络助手 · 个性化协作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FEE51770-DABA-4703-B8E0-08BC4D86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记得你办过什么，也更懂你习惯怎么办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02E1E2FE-9CF7-4D11-BE38-B6BC3004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10</a:t>
            </a:r>
          </a:p>
        </p:txBody>
      </p:sp>
      <p:sp>
        <p:nvSpPr>
          <p:cNvPr id="4" name="s2-lead">
            <a:extLst xmlns:a="http://schemas.openxmlformats.org/drawingml/2006/main">
              <a:ext uri="{FF2B5EF4-FFF2-40B4-BE49-F238E27FC236}">
                <a16:creationId xmlns:a16="http://schemas.microsoft.com/office/drawing/2014/main" id="{E61E3472-6B22-4AAA-883A-4ECFE7CE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按用户、项目和任务范围记住稳定偏好与历史办理，在相似事项中复用，并重新确认变化信息。</a:t>
            </a:r>
          </a:p>
        </p:txBody>
      </p:sp>
      <p:sp>
        <p:nvSpPr>
          <p:cNvPr id="5" name="s2-old-label">
            <a:extLst xmlns:a="http://schemas.openxmlformats.org/drawingml/2006/main">
              <a:ext uri="{FF2B5EF4-FFF2-40B4-BE49-F238E27FC236}">
                <a16:creationId xmlns:a16="http://schemas.microsoft.com/office/drawing/2014/main" id="{C84554D8-A558-4E2D-B17D-9131164B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按业务口径记住</a:t>
            </a:r>
          </a:p>
        </p:txBody>
      </p:sp>
      <p:sp>
        <p:nvSpPr>
          <p:cNvPr id="6" name="s2-old-line">
            <a:extLst xmlns:a="http://schemas.openxmlformats.org/drawingml/2006/main">
              <a:ext uri="{FF2B5EF4-FFF2-40B4-BE49-F238E27FC236}">
                <a16:creationId xmlns:a16="http://schemas.microsoft.com/office/drawing/2014/main" id="{488DD6B6-28F5-4B65-BE62-14DB02AE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C7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old-dot-0">
            <a:extLst xmlns:a="http://schemas.openxmlformats.org/drawingml/2006/main">
              <a:ext uri="{FF2B5EF4-FFF2-40B4-BE49-F238E27FC236}">
                <a16:creationId xmlns:a16="http://schemas.microsoft.com/office/drawing/2014/main" id="{72F5013E-ADB1-44D2-A011-A4CC87A0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old-step-0">
            <a:extLst xmlns:a="http://schemas.openxmlformats.org/drawingml/2006/main">
              <a:ext uri="{FF2B5EF4-FFF2-40B4-BE49-F238E27FC236}">
                <a16:creationId xmlns:a16="http://schemas.microsoft.com/office/drawing/2014/main" id="{A20373D8-67BF-4976-BA22-2678FBDD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上次办理</a:t>
            </a:r>
          </a:p>
        </p:txBody>
      </p:sp>
      <p:sp>
        <p:nvSpPr>
          <p:cNvPr id="9" name="old-vline-0">
            <a:extLst xmlns:a="http://schemas.openxmlformats.org/drawingml/2006/main">
              <a:ext uri="{FF2B5EF4-FFF2-40B4-BE49-F238E27FC236}">
                <a16:creationId xmlns:a16="http://schemas.microsoft.com/office/drawing/2014/main" id="{16E2351A-26B7-441C-AD34-537C35CA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C7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old-dot-1">
            <a:extLst xmlns:a="http://schemas.openxmlformats.org/drawingml/2006/main">
              <a:ext uri="{FF2B5EF4-FFF2-40B4-BE49-F238E27FC236}">
                <a16:creationId xmlns:a16="http://schemas.microsoft.com/office/drawing/2014/main" id="{FB6BDE2B-D988-4260-829C-C4FB0B92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old-step-1">
            <a:extLst xmlns:a="http://schemas.openxmlformats.org/drawingml/2006/main">
              <a:ext uri="{FF2B5EF4-FFF2-40B4-BE49-F238E27FC236}">
                <a16:creationId xmlns:a16="http://schemas.microsoft.com/office/drawing/2014/main" id="{71E821A3-7BAB-4157-8C96-DAED6D62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用户偏好</a:t>
            </a:r>
          </a:p>
        </p:txBody>
      </p:sp>
      <p:sp>
        <p:nvSpPr>
          <p:cNvPr id="12" name="old-vline-1">
            <a:extLst xmlns:a="http://schemas.openxmlformats.org/drawingml/2006/main">
              <a:ext uri="{FF2B5EF4-FFF2-40B4-BE49-F238E27FC236}">
                <a16:creationId xmlns:a16="http://schemas.microsoft.com/office/drawing/2014/main" id="{C2C700D6-DBE4-40B2-A37D-9698AC9D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C7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old-dot-2">
            <a:extLst xmlns:a="http://schemas.openxmlformats.org/drawingml/2006/main">
              <a:ext uri="{FF2B5EF4-FFF2-40B4-BE49-F238E27FC236}">
                <a16:creationId xmlns:a16="http://schemas.microsoft.com/office/drawing/2014/main" id="{1E0161DD-CBB2-4E1D-A17D-26513DDD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old-step-2">
            <a:extLst xmlns:a="http://schemas.openxmlformats.org/drawingml/2006/main">
              <a:ext uri="{FF2B5EF4-FFF2-40B4-BE49-F238E27FC236}">
                <a16:creationId xmlns:a16="http://schemas.microsoft.com/office/drawing/2014/main" id="{B392D5EE-3B50-409D-87DB-54134016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2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项目约定</a:t>
            </a:r>
          </a:p>
        </p:txBody>
      </p:sp>
      <p:sp>
        <p:nvSpPr>
          <p:cNvPr id="15" name="old-vline-2">
            <a:extLst xmlns:a="http://schemas.openxmlformats.org/drawingml/2006/main">
              <a:ext uri="{FF2B5EF4-FFF2-40B4-BE49-F238E27FC236}">
                <a16:creationId xmlns:a16="http://schemas.microsoft.com/office/drawing/2014/main" id="{6E3ECF2E-93C5-4872-B631-9E3AB6A8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C7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old-dot-3">
            <a:extLst xmlns:a="http://schemas.openxmlformats.org/drawingml/2006/main">
              <a:ext uri="{FF2B5EF4-FFF2-40B4-BE49-F238E27FC236}">
                <a16:creationId xmlns:a16="http://schemas.microsoft.com/office/drawing/2014/main" id="{0D6E6B23-68D1-40EF-9BAF-191744E9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old-step-3">
            <a:extLst xmlns:a="http://schemas.openxmlformats.org/drawingml/2006/main">
              <a:ext uri="{FF2B5EF4-FFF2-40B4-BE49-F238E27FC236}">
                <a16:creationId xmlns:a16="http://schemas.microsoft.com/office/drawing/2014/main" id="{99274F7F-C322-4BC4-86F2-D8EB34FB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可复用流程</a:t>
            </a:r>
          </a:p>
        </p:txBody>
      </p:sp>
      <p:sp>
        <p:nvSpPr>
          <p:cNvPr id="18" name="s2-old-impact">
            <a:extLst xmlns:a="http://schemas.openxmlformats.org/drawingml/2006/main">
              <a:ext uri="{FF2B5EF4-FFF2-40B4-BE49-F238E27FC236}">
                <a16:creationId xmlns:a16="http://schemas.microsoft.com/office/drawing/2014/main" id="{C68E6555-7F86-4862-B7B8-45D7B626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不是保存全部聊天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只沉淀有持续价值的信息</a:t>
            </a:r>
          </a:p>
        </p:txBody>
      </p:sp>
      <p:sp>
        <p:nvSpPr>
          <p:cNvPr id="19" name="s2-dano-zone">
            <a:extLst xmlns:a="http://schemas.openxmlformats.org/drawingml/2006/main">
              <a:ext uri="{FF2B5EF4-FFF2-40B4-BE49-F238E27FC236}">
                <a16:creationId xmlns:a16="http://schemas.microsoft.com/office/drawing/2014/main" id="{CFA3D6BD-1FC5-4533-972C-04AA040B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90700"/>
            <a:ext cx="6286500" cy="4038600"/>
          </a:xfrm>
          <a:prstGeom xmlns:a="http://schemas.openxmlformats.org/drawingml/2006/main" prst="roundRect">
            <a:avLst>
              <a:gd name="adj" fmla="val 51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2-dano-label">
            <a:extLst xmlns:a="http://schemas.openxmlformats.org/drawingml/2006/main">
              <a:ext uri="{FF2B5EF4-FFF2-40B4-BE49-F238E27FC236}">
                <a16:creationId xmlns:a16="http://schemas.microsoft.com/office/drawing/2014/main" id="{0C06B209-59D5-49EA-8E60-DBA5696B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95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更懂你的个人助理</a:t>
            </a:r>
          </a:p>
        </p:txBody>
      </p:sp>
      <p:sp>
        <p:nvSpPr>
          <p:cNvPr id="21" name="step-1-588">
            <a:extLst xmlns:a="http://schemas.openxmlformats.org/drawingml/2006/main">
              <a:ext uri="{FF2B5EF4-FFF2-40B4-BE49-F238E27FC236}">
                <a16:creationId xmlns:a16="http://schemas.microsoft.com/office/drawing/2014/main" id="{F2493C84-235C-4805-A9FC-7763B8D9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tep-label-1-588">
            <a:extLst xmlns:a="http://schemas.openxmlformats.org/drawingml/2006/main">
              <a:ext uri="{FF2B5EF4-FFF2-40B4-BE49-F238E27FC236}">
                <a16:creationId xmlns:a16="http://schemas.microsoft.com/office/drawing/2014/main" id="{917A336E-37B0-4C09-AC79-943B38AF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05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" name="cap-head-0">
            <a:extLst xmlns:a="http://schemas.openxmlformats.org/drawingml/2006/main">
              <a:ext uri="{FF2B5EF4-FFF2-40B4-BE49-F238E27FC236}">
                <a16:creationId xmlns:a16="http://schemas.microsoft.com/office/drawing/2014/main" id="{9C14DCA5-BC90-42FD-88AE-9AED354B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28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识别当前事项</a:t>
            </a:r>
          </a:p>
        </p:txBody>
      </p:sp>
      <p:sp>
        <p:nvSpPr>
          <p:cNvPr id="24" name="cap-copy-0">
            <a:extLst xmlns:a="http://schemas.openxmlformats.org/drawingml/2006/main">
              <a:ext uri="{FF2B5EF4-FFF2-40B4-BE49-F238E27FC236}">
                <a16:creationId xmlns:a16="http://schemas.microsoft.com/office/drawing/2014/main" id="{98AE0E19-CF5D-4FB0-A38F-7F583720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289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确定用户、项目与任务范围</a:t>
            </a:r>
          </a:p>
        </p:txBody>
      </p:sp>
      <p:sp>
        <p:nvSpPr>
          <p:cNvPr id="25" name="step-2-588">
            <a:extLst xmlns:a="http://schemas.openxmlformats.org/drawingml/2006/main">
              <a:ext uri="{FF2B5EF4-FFF2-40B4-BE49-F238E27FC236}">
                <a16:creationId xmlns:a16="http://schemas.microsoft.com/office/drawing/2014/main" id="{88E9CB51-4998-4A12-97EE-0BA6D198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33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tep-label-2-588">
            <a:extLst xmlns:a="http://schemas.openxmlformats.org/drawingml/2006/main">
              <a:ext uri="{FF2B5EF4-FFF2-40B4-BE49-F238E27FC236}">
                <a16:creationId xmlns:a16="http://schemas.microsoft.com/office/drawing/2014/main" id="{301C9AA5-034B-489A-B416-ACAFDEEE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71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7" name="cap-head-1">
            <a:extLst xmlns:a="http://schemas.openxmlformats.org/drawingml/2006/main">
              <a:ext uri="{FF2B5EF4-FFF2-40B4-BE49-F238E27FC236}">
                <a16:creationId xmlns:a16="http://schemas.microsoft.com/office/drawing/2014/main" id="{A0A70BEF-23D6-4BF4-8A33-6FFC60CD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956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调取相关记忆</a:t>
            </a:r>
          </a:p>
        </p:txBody>
      </p:sp>
      <p:sp>
        <p:nvSpPr>
          <p:cNvPr id="28" name="cap-copy-1">
            <a:extLst xmlns:a="http://schemas.openxmlformats.org/drawingml/2006/main">
              <a:ext uri="{FF2B5EF4-FFF2-40B4-BE49-F238E27FC236}">
                <a16:creationId xmlns:a16="http://schemas.microsoft.com/office/drawing/2014/main" id="{EE0C93EA-EE69-4E13-9E03-A66C26D7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956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只取与本次办理相关的信息</a:t>
            </a:r>
          </a:p>
        </p:txBody>
      </p:sp>
      <p:sp>
        <p:nvSpPr>
          <p:cNvPr id="29" name="step-3-588">
            <a:extLst xmlns:a="http://schemas.openxmlformats.org/drawingml/2006/main">
              <a:ext uri="{FF2B5EF4-FFF2-40B4-BE49-F238E27FC236}">
                <a16:creationId xmlns:a16="http://schemas.microsoft.com/office/drawing/2014/main" id="{F9812B13-A95B-4884-A6BE-F10CF9A3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00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tep-label-3-588">
            <a:extLst xmlns:a="http://schemas.openxmlformats.org/drawingml/2006/main">
              <a:ext uri="{FF2B5EF4-FFF2-40B4-BE49-F238E27FC236}">
                <a16:creationId xmlns:a16="http://schemas.microsoft.com/office/drawing/2014/main" id="{0CDF610A-49A2-4B9A-B438-E4A35543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38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" name="cap-head-2">
            <a:extLst xmlns:a="http://schemas.openxmlformats.org/drawingml/2006/main">
              <a:ext uri="{FF2B5EF4-FFF2-40B4-BE49-F238E27FC236}">
                <a16:creationId xmlns:a16="http://schemas.microsoft.com/office/drawing/2014/main" id="{999ED3D4-6849-45A2-B4EF-0283F2A7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复用稳定信息</a:t>
            </a:r>
          </a:p>
        </p:txBody>
      </p:sp>
      <p:sp>
        <p:nvSpPr>
          <p:cNvPr id="32" name="cap-copy-2">
            <a:extLst xmlns:a="http://schemas.openxmlformats.org/drawingml/2006/main">
              <a:ext uri="{FF2B5EF4-FFF2-40B4-BE49-F238E27FC236}">
                <a16:creationId xmlns:a16="http://schemas.microsoft.com/office/drawing/2014/main" id="{1A79DD0C-6C49-40B8-989B-C3F57AE9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624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沿用偏好、约定和历史经验</a:t>
            </a:r>
          </a:p>
        </p:txBody>
      </p:sp>
      <p:sp>
        <p:nvSpPr>
          <p:cNvPr id="33" name="step-4-588">
            <a:extLst xmlns:a="http://schemas.openxmlformats.org/drawingml/2006/main">
              <a:ext uri="{FF2B5EF4-FFF2-40B4-BE49-F238E27FC236}">
                <a16:creationId xmlns:a16="http://schemas.microsoft.com/office/drawing/2014/main" id="{BC3C999D-E5BB-43DC-9612-F802EE26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67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B36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tep-label-4-588">
            <a:extLst xmlns:a="http://schemas.openxmlformats.org/drawingml/2006/main">
              <a:ext uri="{FF2B5EF4-FFF2-40B4-BE49-F238E27FC236}">
                <a16:creationId xmlns:a16="http://schemas.microsoft.com/office/drawing/2014/main" id="{AC66966F-C549-457A-9D23-561D9FBD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7053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cap-head-3">
            <a:extLst xmlns:a="http://schemas.openxmlformats.org/drawingml/2006/main">
              <a:ext uri="{FF2B5EF4-FFF2-40B4-BE49-F238E27FC236}">
                <a16:creationId xmlns:a16="http://schemas.microsoft.com/office/drawing/2014/main" id="{6F317616-6CAC-4521-8654-C3909461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291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确认变化信息</a:t>
            </a:r>
          </a:p>
        </p:txBody>
      </p:sp>
      <p:sp>
        <p:nvSpPr>
          <p:cNvPr id="36" name="cap-copy-3">
            <a:extLst xmlns:a="http://schemas.openxmlformats.org/drawingml/2006/main">
              <a:ext uri="{FF2B5EF4-FFF2-40B4-BE49-F238E27FC236}">
                <a16:creationId xmlns:a16="http://schemas.microsoft.com/office/drawing/2014/main" id="{F4767E1B-7D5C-4691-8008-2B3BC295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29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时间、金额、人员等重新确认</a:t>
            </a:r>
          </a:p>
        </p:txBody>
      </p:sp>
      <p:sp>
        <p:nvSpPr>
          <p:cNvPr id="37" name="s2-outcome">
            <a:extLst xmlns:a="http://schemas.openxmlformats.org/drawingml/2006/main">
              <a:ext uri="{FF2B5EF4-FFF2-40B4-BE49-F238E27FC236}">
                <a16:creationId xmlns:a16="http://schemas.microsoft.com/office/drawing/2014/main" id="{A5FBD209-ACA6-4801-9229-1872D308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0540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使用依据｜可查看来源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用户控制｜可纠正、可遗忘</a:t>
            </a:r>
          </a:p>
        </p:txBody>
      </p:sp>
    </p:spTree>
    <p:extLst>
      <p:ext uri="{BB962C8B-B14F-4D97-AF65-F5344CB8AC3E}">
        <p14:creationId xmlns:p14="http://schemas.microsoft.com/office/powerpoint/2010/main" val="819811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2026-07-30T08:34:32.3410000Z</dcterms:created>
  <dcterms:modified xsi:type="dcterms:W3CDTF">2026-07-30T08:34:32.3410000Z</dcterms:modified>
</coreProperties>
</file>